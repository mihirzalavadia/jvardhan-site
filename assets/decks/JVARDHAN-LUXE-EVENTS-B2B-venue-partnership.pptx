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1695" cy="6858000"/>
  <p:notesSz cx="6858000" cy="12191695"/>
  <p:embeddedFontLst>
    <p:embeddedFont>
      <p:font typeface="Poppins ExtraLight"/>
      <p:regular r:id="rId201314"/>
    </p:embeddedFont>
    <p:embeddedFont>
      <p:font typeface="Poppins Thin"/>
      <p:regular r:id="rId201315"/>
    </p:embeddedFont>
    <p:embeddedFont>
      <p:font typeface="Poppins Light"/>
      <p:regular r:id="rId201316"/>
    </p:embeddedFont>
    <p:embeddedFont>
      <p:font typeface="Poppins SemiBold"/>
      <p:regular r:id="rId201317"/>
    </p:embeddedFont>
    <p:embeddedFont>
      <p:font typeface="Poppins Bold"/>
      <p:regular r:id="rId201318"/>
    </p:embeddedFont>
    <p:embeddedFont>
      <p:font typeface="Poppins ExtraBold"/>
      <p:regular r:id="rId201319"/>
    </p:embeddedFont>
    <p:embeddedFont>
      <p:font typeface="Poppins Black"/>
      <p:regular r:id="rId201320"/>
    </p:embeddedFont>
    <p:embeddedFont>
      <p:font typeface="Poppins"/>
      <p:regular r:id="rId201321"/>
    </p:embeddedFont>
    <p:embeddedFont>
      <p:font typeface="Poppins Medium"/>
      <p:regular r:id="rId201322"/>
    </p:embeddedFont>
    <p:embeddedFont>
      <p:font typeface="Roboto Light"/>
      <p:regular r:id="rId201323"/>
    </p:embeddedFont>
    <p:embeddedFont>
      <p:font typeface="Roboto"/>
      <p:regular r:id="rId201324"/>
    </p:embeddedFont>
    <p:embeddedFont>
      <p:font typeface="Roboto Thin"/>
      <p:regular r:id="rId201325"/>
    </p:embeddedFont>
    <p:embeddedFont>
      <p:font typeface="Roboto ExtraLight"/>
      <p:regular r:id="rId201326"/>
    </p:embeddedFont>
    <p:embeddedFont>
      <p:font typeface="Roboto Medium"/>
      <p:regular r:id="rId201327"/>
    </p:embeddedFont>
    <p:embeddedFont>
      <p:font typeface="Roboto SemiBold"/>
      <p:regular r:id="rId201328"/>
    </p:embeddedFont>
    <p:embeddedFont>
      <p:font typeface="Roboto Bold"/>
      <p:regular r:id="rId201329"/>
    </p:embeddedFont>
    <p:embeddedFont>
      <p:font typeface="Roboto ExtraBold"/>
      <p:regular r:id="rId201330"/>
    </p:embeddedFont>
    <p:embeddedFont>
      <p:font typeface="Roboto Black"/>
      <p:regular r:id="rId2013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Relationship Id="rId201335" Target="fonts/20133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1.png"/><Relationship Id="rId4" Type="http://schemas.openxmlformats.org/officeDocument/2006/relationships/image" Target="../media/image-3-2.svg"/><Relationship Id="rId5" Type="http://schemas.openxmlformats.org/officeDocument/2006/relationships/image" Target="../media/image-3-1.png"/><Relationship Id="rId6" Type="http://schemas.openxmlformats.org/officeDocument/2006/relationships/image" Target="../media/image-3-2.svg"/><Relationship Id="rId7" Type="http://schemas.openxmlformats.org/officeDocument/2006/relationships/image" Target="../media/image-3-1.png"/><Relationship Id="rId8" Type="http://schemas.openxmlformats.org/officeDocument/2006/relationships/image" Target="../media/image-3-2.svg"/><Relationship Id="rId9" Type="http://schemas.openxmlformats.org/officeDocument/2006/relationships/image" Target="../media/image-3-1.png"/><Relationship Id="rId10" Type="http://schemas.openxmlformats.org/officeDocument/2006/relationships/image" Target="../media/image-3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1.png"/><Relationship Id="rId4" Type="http://schemas.openxmlformats.org/officeDocument/2006/relationships/image" Target="../media/image-5-2.svg"/><Relationship Id="rId5" Type="http://schemas.openxmlformats.org/officeDocument/2006/relationships/image" Target="../media/image-5-1.png"/><Relationship Id="rId6" Type="http://schemas.openxmlformats.org/officeDocument/2006/relationships/image" Target="../media/image-5-2.svg"/><Relationship Id="rId7" Type="http://schemas.openxmlformats.org/officeDocument/2006/relationships/image" Target="../media/image-5-1.png"/><Relationship Id="rId8" Type="http://schemas.openxmlformats.org/officeDocument/2006/relationships/image" Target="../media/image-5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2.png"/><Relationship Id="rId5" Type="http://schemas.openxmlformats.org/officeDocument/2006/relationships/image" Target="../media/image-9-3.svg"/><Relationship Id="rId6" Type="http://schemas.openxmlformats.org/officeDocument/2006/relationships/image" Target="../media/image-9-2.png"/><Relationship Id="rId7" Type="http://schemas.openxmlformats.org/officeDocument/2006/relationships/image" Target="../media/image-9-3.svg"/><Relationship Id="rId8" Type="http://schemas.openxmlformats.org/officeDocument/2006/relationships/image" Target="../media/image-9-2.png"/><Relationship Id="rId9" Type="http://schemas.openxmlformats.org/officeDocument/2006/relationships/image" Target="../media/image-9-3.svg"/><Relationship Id="rId10" Type="http://schemas.openxmlformats.org/officeDocument/2006/relationships/image" Target="../media/image-9-2.png"/><Relationship Id="rId11" Type="http://schemas.openxmlformats.org/officeDocument/2006/relationships/image" Target="../media/image-9-3.sv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1.png"/><Relationship Id="rId4" Type="http://schemas.openxmlformats.org/officeDocument/2006/relationships/image" Target="../media/image-11-2.svg"/><Relationship Id="rId5" Type="http://schemas.openxmlformats.org/officeDocument/2006/relationships/image" Target="../media/image-11-1.png"/><Relationship Id="rId6" Type="http://schemas.openxmlformats.org/officeDocument/2006/relationships/image" Target="../media/image-11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1.png"/><Relationship Id="rId4" Type="http://schemas.openxmlformats.org/officeDocument/2006/relationships/image" Target="../media/image-18-2.svg"/><Relationship Id="rId5" Type="http://schemas.openxmlformats.org/officeDocument/2006/relationships/image" Target="../media/image-18-1.png"/><Relationship Id="rId6" Type="http://schemas.openxmlformats.org/officeDocument/2006/relationships/image" Target="../media/image-18-2.svg"/><Relationship Id="rId7" Type="http://schemas.openxmlformats.org/officeDocument/2006/relationships/image" Target="../media/image-18-1.png"/><Relationship Id="rId8" Type="http://schemas.openxmlformats.org/officeDocument/2006/relationships/image" Target="../media/image-18-2.svg"/><Relationship Id="rId9" Type="http://schemas.openxmlformats.org/officeDocument/2006/relationships/image" Target="../media/image-18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image" Target="../media/image-21-3.png"/><Relationship Id="rId4" Type="http://schemas.openxmlformats.org/officeDocument/2006/relationships/image" Target="../media/image-21-4.svg"/><Relationship Id="rId5" Type="http://schemas.openxmlformats.org/officeDocument/2006/relationships/image" Target="../media/image-21-5.png"/><Relationship Id="rId6" Type="http://schemas.openxmlformats.org/officeDocument/2006/relationships/image" Target="../media/image-21-6.svg"/><Relationship Id="rId7" Type="http://schemas.openxmlformats.org/officeDocument/2006/relationships/image" Target="../media/image-21-7.png"/><Relationship Id="rId8" Type="http://schemas.openxmlformats.org/officeDocument/2006/relationships/image" Target="../media/image-21-8.svg"/><Relationship Id="rId9" Type="http://schemas.openxmlformats.org/officeDocument/2006/relationships/image" Target="../media/image-21-9.png"/><Relationship Id="rId10" Type="http://schemas.openxmlformats.org/officeDocument/2006/relationships/image" Target="../media/image-21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image" Target="../media/image-22-1.png"/><Relationship Id="rId4" Type="http://schemas.openxmlformats.org/officeDocument/2006/relationships/image" Target="../media/image-22-2.svg"/><Relationship Id="rId5" Type="http://schemas.openxmlformats.org/officeDocument/2006/relationships/image" Target="../media/image-22-5.png"/><Relationship Id="rId6" Type="http://schemas.openxmlformats.org/officeDocument/2006/relationships/image" Target="../media/image-22-6.svg"/><Relationship Id="rId7" Type="http://schemas.openxmlformats.org/officeDocument/2006/relationships/image" Target="../media/image-22-5.png"/><Relationship Id="rId8" Type="http://schemas.openxmlformats.org/officeDocument/2006/relationships/image" Target="../media/image-22-6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image" Target="../media/image-22-1.png"/><Relationship Id="rId4" Type="http://schemas.openxmlformats.org/officeDocument/2006/relationships/image" Target="../media/image-22-2.svg"/><Relationship Id="rId5" Type="http://schemas.openxmlformats.org/officeDocument/2006/relationships/image" Target="../media/image-22-1.png"/><Relationship Id="rId6" Type="http://schemas.openxmlformats.org/officeDocument/2006/relationships/image" Target="../media/image-22-2.svg"/><Relationship Id="rId7" Type="http://schemas.openxmlformats.org/officeDocument/2006/relationships/image" Target="../media/image-22-1.png"/><Relationship Id="rId8" Type="http://schemas.openxmlformats.org/officeDocument/2006/relationships/image" Target="../media/image-22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svg"/><Relationship Id="rId3" Type="http://schemas.openxmlformats.org/officeDocument/2006/relationships/image" Target="../media/image-24-1.png"/><Relationship Id="rId4" Type="http://schemas.openxmlformats.org/officeDocument/2006/relationships/image" Target="../media/image-24-2.svg"/><Relationship Id="rId5" Type="http://schemas.openxmlformats.org/officeDocument/2006/relationships/image" Target="../media/image-24-5.png"/><Relationship Id="rId6" Type="http://schemas.openxmlformats.org/officeDocument/2006/relationships/image" Target="../media/image-24-6.svg"/><Relationship Id="rId7" Type="http://schemas.openxmlformats.org/officeDocument/2006/relationships/image" Target="../media/image-24-5.png"/><Relationship Id="rId8" Type="http://schemas.openxmlformats.org/officeDocument/2006/relationships/image" Target="../media/image-24-6.svg"/><Relationship Id="rId9" Type="http://schemas.openxmlformats.org/officeDocument/2006/relationships/image" Target="../media/image-24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988741"/>
            <a:ext cx="1822801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F2F2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2045395"/>
            <a:ext cx="220557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PARTNERSHIP PROFILE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235148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J.VARDHAN LUXE EVENTS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3017738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Resort, Hotel &amp; Venue Partnership Profile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3596481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Wedding Design | Floral Styling | Mandap &amp; Event Production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61475" y="4158754"/>
            <a:ext cx="10868745" cy="25400"/>
          </a:xfrm>
          <a:prstGeom prst="roundRect">
            <a:avLst>
              <a:gd name="adj" fmla="val 59999"/>
            </a:avLst>
          </a:prstGeom>
          <a:solidFill>
            <a:srgbClr val="E5E0DF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61475" y="444400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Working brand only. Legacy connection: Mali Mukesh Wedding Planning &amp; Decoration.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61475" y="1837134"/>
            <a:ext cx="126897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PURPOSE</a:t>
            </a:r>
            <a:endParaRPr lang="en-US" sz="1150" dirty="0"/>
          </a:p>
        </p:txBody>
      </p:sp>
      <p:sp>
        <p:nvSpPr>
          <p:cNvPr id="6" name="Text 2"/>
          <p:cNvSpPr/>
          <p:nvPr/>
        </p:nvSpPr>
        <p:spPr>
          <a:xfrm>
            <a:off x="661475" y="2143224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Why this deck exists</a:t>
            </a:r>
            <a:endParaRPr lang="en-US" sz="3700" dirty="0"/>
          </a:p>
        </p:txBody>
      </p:sp>
      <p:sp>
        <p:nvSpPr>
          <p:cNvPr id="7" name="Text 3"/>
          <p:cNvSpPr/>
          <p:nvPr/>
        </p:nvSpPr>
        <p:spPr>
          <a:xfrm>
            <a:off x="661475" y="3017341"/>
            <a:ext cx="6296860" cy="1937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Premium venues do not need another decorator list.</a:t>
            </a:r>
            <a:endParaRPr lang="en-US" sz="1450" dirty="0"/>
          </a:p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They need a reliable production partner who helps them sell celebrations faster, protect their property, and deliver repeatable guest experience.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This draft converts the long pitch PDF into a sharper venue-owner presentation.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6645803" y="6457255"/>
            <a:ext cx="841751" cy="158750"/>
          </a:xfrm>
          <a:prstGeom prst="rect">
            <a:avLst/>
          </a:prstGeom>
          <a:noFill/>
          <a:ln/>
        </p:spPr>
        <p:txBody>
          <a:bodyPr wrap="none" lIns="0" tIns="59541" rIns="99235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4639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The venue owner's problem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315071"/>
            <a:ext cx="3496877" cy="14423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2529483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Enquiry Pressure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77479" y="2938165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Families ask for decor before they commit.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2315071"/>
            <a:ext cx="3496877" cy="14423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363" y="2529483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Vendor Risk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663363" y="2938165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Unvetted vendors create coordination pressure.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3244" y="2315071"/>
            <a:ext cx="3496877" cy="14423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49247" y="2529483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Booking Delays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349247" y="2938165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Setup and teardown delays affect the next booking.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3946426"/>
            <a:ext cx="3496877" cy="14423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77479" y="4160838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Property Damage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977479" y="4569520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Property damage risk sits with the venue team.</a:t>
            </a:r>
            <a:endParaRPr lang="en-US" sz="14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47359" y="3946426"/>
            <a:ext cx="3496877" cy="144234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663363" y="4160838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Execution Dependency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4663363" y="4569520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venue's visual promise depends on outside execution.</a:t>
            </a:r>
            <a:endParaRPr lang="en-US" sz="1450" dirty="0"/>
          </a:p>
        </p:txBody>
      </p:sp>
      <p:sp>
        <p:nvSpPr>
          <p:cNvPr id="18" name="Text 11"/>
          <p:cNvSpPr/>
          <p:nvPr/>
        </p:nvSpPr>
        <p:spPr>
          <a:xfrm>
            <a:off x="11217689" y="6457255"/>
            <a:ext cx="841751" cy="158750"/>
          </a:xfrm>
          <a:prstGeom prst="rect">
            <a:avLst/>
          </a:prstGeom>
          <a:noFill/>
          <a:ln/>
        </p:spPr>
        <p:txBody>
          <a:bodyPr wrap="none" lIns="0" tIns="59541" rIns="99235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61475" y="1837134"/>
            <a:ext cx="130816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OUR ROLE</a:t>
            </a:r>
            <a:endParaRPr lang="en-US" sz="1150" dirty="0"/>
          </a:p>
        </p:txBody>
      </p:sp>
      <p:sp>
        <p:nvSpPr>
          <p:cNvPr id="6" name="Text 2"/>
          <p:cNvSpPr/>
          <p:nvPr/>
        </p:nvSpPr>
        <p:spPr>
          <a:xfrm>
            <a:off x="661475" y="2143224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The partnership promise</a:t>
            </a:r>
            <a:endParaRPr lang="en-US" sz="3700" dirty="0"/>
          </a:p>
        </p:txBody>
      </p:sp>
      <p:sp>
        <p:nvSpPr>
          <p:cNvPr id="7" name="Text 3"/>
          <p:cNvSpPr/>
          <p:nvPr/>
        </p:nvSpPr>
        <p:spPr>
          <a:xfrm>
            <a:off x="661475" y="3017341"/>
            <a:ext cx="6296860" cy="1937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We become the decor and production layer that understands your venue rules.</a:t>
            </a:r>
            <a:endParaRPr lang="en-US" sz="1450" dirty="0"/>
          </a:p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We prepare site-specific options for mandaps, entrances, receptions, pathways, florals, lighting, and guest flow.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Your team stays focused on hospitality, F&amp;B, rooms, and service.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6645803" y="6457255"/>
            <a:ext cx="841751" cy="158750"/>
          </a:xfrm>
          <a:prstGeom prst="rect">
            <a:avLst/>
          </a:prstGeom>
          <a:noFill/>
          <a:ln/>
        </p:spPr>
        <p:txBody>
          <a:bodyPr wrap="none" lIns="0" tIns="59541" rIns="99235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2421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Proof must be earned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792883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source PDF mentions strong proof points, but every one needs verification before it is published.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307927"/>
            <a:ext cx="5339820" cy="17069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89605" y="2436416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75881" y="3089374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Years in Business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75881" y="3498056"/>
            <a:ext cx="491100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[VERIFY: years in business]</a:t>
            </a:r>
            <a:endParaRPr lang="en-US" sz="1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0301" y="2307927"/>
            <a:ext cx="5339919" cy="170695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718530" y="2436416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6404708" y="3089374"/>
            <a:ext cx="4911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Floral Origin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6404708" y="3498056"/>
            <a:ext cx="4911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[VERIFY: origin as early / first real-flower shop in Junagadh]</a:t>
            </a:r>
            <a:endParaRPr lang="en-US" sz="14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203898"/>
            <a:ext cx="5339820" cy="170695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189605" y="4332387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875881" y="4985345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Venue &amp; Hotel Work</a:t>
            </a:r>
            <a:endParaRPr lang="en-US" sz="1850" dirty="0"/>
          </a:p>
        </p:txBody>
      </p:sp>
      <p:sp>
        <p:nvSpPr>
          <p:cNvPr id="15" name="Text 10"/>
          <p:cNvSpPr/>
          <p:nvPr/>
        </p:nvSpPr>
        <p:spPr>
          <a:xfrm>
            <a:off x="875881" y="5394027"/>
            <a:ext cx="491100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[VERIFY: venue and hotel work]</a:t>
            </a:r>
            <a:endParaRPr lang="en-US" sz="14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90301" y="4203898"/>
            <a:ext cx="5339919" cy="170695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718530" y="4332387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6404708" y="4985345"/>
            <a:ext cx="4911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Event Scale</a:t>
            </a:r>
            <a:endParaRPr lang="en-US" sz="1850" dirty="0"/>
          </a:p>
        </p:txBody>
      </p:sp>
      <p:sp>
        <p:nvSpPr>
          <p:cNvPr id="19" name="Text 13"/>
          <p:cNvSpPr/>
          <p:nvPr/>
        </p:nvSpPr>
        <p:spPr>
          <a:xfrm>
            <a:off x="6404708" y="5394027"/>
            <a:ext cx="4911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[VERIFY: major private, cultural, and community events]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11217689" y="6457255"/>
            <a:ext cx="841751" cy="158750"/>
          </a:xfrm>
          <a:prstGeom prst="rect">
            <a:avLst/>
          </a:prstGeom>
          <a:noFill/>
          <a:ln/>
        </p:spPr>
        <p:txBody>
          <a:bodyPr wrap="none" lIns="0" tIns="59541" rIns="99235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61475" y="615950"/>
            <a:ext cx="1355393" cy="162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OUR STORY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661475" y="897533"/>
            <a:ext cx="6296860" cy="552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Working credibility story</a:t>
            </a:r>
            <a:endParaRPr lang="en-US" sz="3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97831"/>
            <a:ext cx="883719" cy="106054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710488" y="1874540"/>
            <a:ext cx="5247846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Local Floral Business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1710488" y="2249785"/>
            <a:ext cx="5247846" cy="273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From a local floral business into full event production.</a:t>
            </a:r>
            <a:endParaRPr lang="en-US" sz="13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2758380"/>
            <a:ext cx="883719" cy="127595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710488" y="2935089"/>
            <a:ext cx="5247846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Full Production</a:t>
            </a:r>
            <a:endParaRPr lang="en-US" sz="1700" dirty="0"/>
          </a:p>
        </p:txBody>
      </p:sp>
      <p:sp>
        <p:nvSpPr>
          <p:cNvPr id="12" name="Text 6"/>
          <p:cNvSpPr/>
          <p:nvPr/>
        </p:nvSpPr>
        <p:spPr>
          <a:xfrm>
            <a:off x="1710488" y="3310334"/>
            <a:ext cx="5247846" cy="547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From flowers and garlands into mandaps, stages, entrances, lighting, and execution planning.</a:t>
            </a:r>
            <a:endParaRPr lang="en-US" sz="13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4034334"/>
            <a:ext cx="883719" cy="127595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710488" y="4211042"/>
            <a:ext cx="5247846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Regional Expansion</a:t>
            </a:r>
            <a:endParaRPr lang="en-US" sz="1700" dirty="0"/>
          </a:p>
        </p:txBody>
      </p:sp>
      <p:sp>
        <p:nvSpPr>
          <p:cNvPr id="15" name="Text 8"/>
          <p:cNvSpPr/>
          <p:nvPr/>
        </p:nvSpPr>
        <p:spPr>
          <a:xfrm>
            <a:off x="1710488" y="4586288"/>
            <a:ext cx="5247846" cy="547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From Junagadh and Bhavnath into a wider Saurashtra and Gujarat opportunity.</a:t>
            </a:r>
            <a:endParaRPr lang="en-US" sz="1350" dirty="0"/>
          </a:p>
        </p:txBody>
      </p:sp>
      <p:sp>
        <p:nvSpPr>
          <p:cNvPr id="16" name="Shape 9"/>
          <p:cNvSpPr/>
          <p:nvPr/>
        </p:nvSpPr>
        <p:spPr>
          <a:xfrm>
            <a:off x="661475" y="5496223"/>
            <a:ext cx="6296860" cy="675977"/>
          </a:xfrm>
          <a:prstGeom prst="roundRect">
            <a:avLst>
              <a:gd name="adj" fmla="val 10983"/>
            </a:avLst>
          </a:prstGeom>
          <a:solidFill>
            <a:srgbClr val="3D3D42"/>
          </a:solidFill>
          <a:ln/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179" y="5746552"/>
            <a:ext cx="220855" cy="176709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235739" y="5705673"/>
            <a:ext cx="6155476" cy="273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Keep this story humble until dates and proof are confirmed.</a:t>
            </a:r>
            <a:endParaRPr lang="en-US" sz="1350" dirty="0"/>
          </a:p>
        </p:txBody>
      </p:sp>
      <p:sp>
        <p:nvSpPr>
          <p:cNvPr id="19" name="Text 11"/>
          <p:cNvSpPr/>
          <p:nvPr/>
        </p:nvSpPr>
        <p:spPr>
          <a:xfrm>
            <a:off x="6645803" y="6457255"/>
            <a:ext cx="841751" cy="158750"/>
          </a:xfrm>
          <a:prstGeom prst="rect">
            <a:avLst/>
          </a:prstGeom>
          <a:noFill/>
          <a:ln/>
        </p:spPr>
        <p:txBody>
          <a:bodyPr wrap="none" lIns="0" tIns="59541" rIns="99235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490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Geographic base and expansion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61475" y="1678285"/>
            <a:ext cx="5243084" cy="245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Current &amp; Mentioned Operating Region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61475" y="2069703"/>
            <a:ext cx="2556506" cy="571302"/>
          </a:xfrm>
          <a:prstGeom prst="roundRect">
            <a:avLst>
              <a:gd name="adj" fmla="val 11529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4586" y="2232819"/>
            <a:ext cx="2230282" cy="245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Junagadh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348053" y="2069703"/>
            <a:ext cx="2556506" cy="571302"/>
          </a:xfrm>
          <a:prstGeom prst="roundRect">
            <a:avLst>
              <a:gd name="adj" fmla="val 11529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11165" y="2232819"/>
            <a:ext cx="2230282" cy="245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Bhavnath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61475" y="2771080"/>
            <a:ext cx="2556506" cy="571302"/>
          </a:xfrm>
          <a:prstGeom prst="roundRect">
            <a:avLst>
              <a:gd name="adj" fmla="val 11529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4586" y="2934196"/>
            <a:ext cx="2230282" cy="245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Sasan Gir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48053" y="2771080"/>
            <a:ext cx="2556506" cy="571302"/>
          </a:xfrm>
          <a:prstGeom prst="roundRect">
            <a:avLst>
              <a:gd name="adj" fmla="val 11529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11165" y="2934196"/>
            <a:ext cx="2230282" cy="245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Chorwad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61475" y="3472458"/>
            <a:ext cx="5243084" cy="571302"/>
          </a:xfrm>
          <a:prstGeom prst="roundRect">
            <a:avLst>
              <a:gd name="adj" fmla="val 11529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586" y="3635573"/>
            <a:ext cx="4916861" cy="245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Wider Saurashtra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61475" y="4229298"/>
            <a:ext cx="5243084" cy="19050"/>
          </a:xfrm>
          <a:prstGeom prst="roundRect">
            <a:avLst>
              <a:gd name="adj" fmla="val 59999"/>
            </a:avLst>
          </a:prstGeom>
          <a:solidFill>
            <a:srgbClr val="E5E0DF">
              <a:alpha val="5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61475" y="4433887"/>
            <a:ext cx="5243084" cy="245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Future Business Focus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1475" y="4809034"/>
            <a:ext cx="5852668" cy="229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Surat and premium Gujarat venue markets.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1475" y="5184973"/>
            <a:ext cx="5243084" cy="542131"/>
          </a:xfrm>
          <a:prstGeom prst="roundRect">
            <a:avLst>
              <a:gd name="adj" fmla="val 12150"/>
            </a:avLst>
          </a:prstGeom>
          <a:solidFill>
            <a:srgbClr val="3D3D42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237" y="5408811"/>
            <a:ext cx="195952" cy="15676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170950" y="5341243"/>
            <a:ext cx="5186431" cy="229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Do not imply coverage beyond evidence.</a:t>
            </a:r>
            <a:endParaRPr lang="en-US" sz="12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3486" y="1351459"/>
            <a:ext cx="4718726" cy="471884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1217689" y="6458545"/>
            <a:ext cx="841751" cy="158750"/>
          </a:xfrm>
          <a:prstGeom prst="rect">
            <a:avLst/>
          </a:prstGeom>
          <a:noFill/>
          <a:ln/>
        </p:spPr>
        <p:txBody>
          <a:bodyPr wrap="none" lIns="0" tIns="59541" rIns="99235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9741"/>
            <a:ext cx="1972717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VALUE PROPOSITION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61475" y="916880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Venue value in one line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61475" y="1733947"/>
            <a:ext cx="5349047" cy="1361380"/>
          </a:xfrm>
          <a:prstGeom prst="roundRect">
            <a:avLst>
              <a:gd name="adj" fmla="val 5540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7307" y="1919784"/>
            <a:ext cx="538645" cy="538659"/>
          </a:xfrm>
          <a:prstGeom prst="ellipse">
            <a:avLst/>
          </a:prstGeom>
          <a:solidFill>
            <a:srgbClr val="F2F2F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5437" y="2067818"/>
            <a:ext cx="242385" cy="2423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7307" y="2628999"/>
            <a:ext cx="497738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Better Decor Response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181074" y="1733947"/>
            <a:ext cx="5349146" cy="1361380"/>
          </a:xfrm>
          <a:prstGeom prst="roundRect">
            <a:avLst>
              <a:gd name="adj" fmla="val 5540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366906" y="1919784"/>
            <a:ext cx="538645" cy="538659"/>
          </a:xfrm>
          <a:prstGeom prst="ellipse">
            <a:avLst/>
          </a:prstGeom>
          <a:solidFill>
            <a:srgbClr val="F2F2F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15036" y="2067818"/>
            <a:ext cx="242385" cy="2423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66906" y="2628999"/>
            <a:ext cx="4977482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Cleaner Coordination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661475" y="3265884"/>
            <a:ext cx="5349047" cy="1361380"/>
          </a:xfrm>
          <a:prstGeom prst="roundRect">
            <a:avLst>
              <a:gd name="adj" fmla="val 5540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47307" y="3451721"/>
            <a:ext cx="538645" cy="538659"/>
          </a:xfrm>
          <a:prstGeom prst="ellipse">
            <a:avLst/>
          </a:prstGeom>
          <a:solidFill>
            <a:srgbClr val="F2F2F3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5437" y="3599755"/>
            <a:ext cx="242385" cy="24239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47307" y="4160937"/>
            <a:ext cx="497738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Faster Setup Planning</a:t>
            </a:r>
            <a:endParaRPr lang="en-US" sz="1750" dirty="0"/>
          </a:p>
        </p:txBody>
      </p:sp>
      <p:sp>
        <p:nvSpPr>
          <p:cNvPr id="16" name="Shape 11"/>
          <p:cNvSpPr/>
          <p:nvPr/>
        </p:nvSpPr>
        <p:spPr>
          <a:xfrm>
            <a:off x="6181074" y="3265884"/>
            <a:ext cx="5349146" cy="1361380"/>
          </a:xfrm>
          <a:prstGeom prst="roundRect">
            <a:avLst>
              <a:gd name="adj" fmla="val 5540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366906" y="3451721"/>
            <a:ext cx="538645" cy="538659"/>
          </a:xfrm>
          <a:prstGeom prst="ellipse">
            <a:avLst/>
          </a:prstGeom>
          <a:solidFill>
            <a:srgbClr val="F2F2F3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15036" y="3599755"/>
            <a:ext cx="242385" cy="24239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366906" y="4160937"/>
            <a:ext cx="4977482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Stronger Guest-Facing Presentation</a:t>
            </a:r>
            <a:endParaRPr lang="en-US" sz="1750" dirty="0"/>
          </a:p>
        </p:txBody>
      </p:sp>
      <p:sp>
        <p:nvSpPr>
          <p:cNvPr id="20" name="Shape 14"/>
          <p:cNvSpPr/>
          <p:nvPr/>
        </p:nvSpPr>
        <p:spPr>
          <a:xfrm>
            <a:off x="661475" y="4797822"/>
            <a:ext cx="5349047" cy="1361380"/>
          </a:xfrm>
          <a:prstGeom prst="roundRect">
            <a:avLst>
              <a:gd name="adj" fmla="val 5540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847307" y="4983659"/>
            <a:ext cx="538645" cy="538659"/>
          </a:xfrm>
          <a:prstGeom prst="ellipse">
            <a:avLst/>
          </a:prstGeom>
          <a:solidFill>
            <a:srgbClr val="F2F2F3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95437" y="5131693"/>
            <a:ext cx="242385" cy="24239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47307" y="5692874"/>
            <a:ext cx="497738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More Sales Content for the Venue</a:t>
            </a:r>
            <a:endParaRPr lang="en-US" sz="1750" dirty="0"/>
          </a:p>
        </p:txBody>
      </p:sp>
      <p:sp>
        <p:nvSpPr>
          <p:cNvPr id="24" name="Shape 17"/>
          <p:cNvSpPr/>
          <p:nvPr/>
        </p:nvSpPr>
        <p:spPr>
          <a:xfrm>
            <a:off x="6181074" y="4797822"/>
            <a:ext cx="5349146" cy="1361380"/>
          </a:xfrm>
          <a:prstGeom prst="roundRect">
            <a:avLst>
              <a:gd name="adj" fmla="val 5540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6366906" y="4983659"/>
            <a:ext cx="538645" cy="538659"/>
          </a:xfrm>
          <a:prstGeom prst="ellipse">
            <a:avLst/>
          </a:prstGeom>
          <a:solidFill>
            <a:srgbClr val="F2F2F3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15036" y="5131693"/>
            <a:ext cx="242385" cy="242391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366906" y="5692874"/>
            <a:ext cx="4977482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Less Operational Friction</a:t>
            </a:r>
            <a:endParaRPr lang="en-US" sz="1750" dirty="0"/>
          </a:p>
        </p:txBody>
      </p:sp>
      <p:sp>
        <p:nvSpPr>
          <p:cNvPr id="28" name="Text 20"/>
          <p:cNvSpPr/>
          <p:nvPr/>
        </p:nvSpPr>
        <p:spPr>
          <a:xfrm>
            <a:off x="11217689" y="6457255"/>
            <a:ext cx="841751" cy="158750"/>
          </a:xfrm>
          <a:prstGeom prst="rect">
            <a:avLst/>
          </a:prstGeom>
          <a:noFill/>
          <a:ln/>
        </p:spPr>
        <p:txBody>
          <a:bodyPr wrap="none" lIns="0" tIns="59541" rIns="99235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6263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What we can design around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2857329" y="2959894"/>
            <a:ext cx="2551743" cy="1417638"/>
          </a:xfrm>
          <a:prstGeom prst="roundRect">
            <a:avLst>
              <a:gd name="adj" fmla="val 4200"/>
            </a:avLst>
          </a:prstGeom>
          <a:solidFill>
            <a:srgbClr val="4D4D5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37904" y="3490615"/>
            <a:ext cx="190495" cy="190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032843" y="3752552"/>
            <a:ext cx="2200716" cy="124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650" dirty="0">
                <a:solidFill>
                  <a:srgbClr val="AEAEB2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There was an error generating this image</a:t>
            </a:r>
            <a:endParaRPr lang="en-US" sz="6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10325" y="1302643"/>
            <a:ext cx="212620" cy="21262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417806" y="1298277"/>
            <a:ext cx="31186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Mandaps &amp; Ceremony Structures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8417806" y="1625997"/>
            <a:ext cx="3118665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Custom-designed ceremony focal points built to venue specifications.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10325" y="2239863"/>
            <a:ext cx="212620" cy="21262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417806" y="2235498"/>
            <a:ext cx="3118665" cy="442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Entrance Gates &amp; Toran-Style Arrivals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8417806" y="2784673"/>
            <a:ext cx="3118665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First impressions designed for the venue's approach and entry points.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10325" y="3398540"/>
            <a:ext cx="212620" cy="21262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417806" y="3394174"/>
            <a:ext cx="31186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Reception Stages &amp; Lighting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8417806" y="3721894"/>
            <a:ext cx="3118665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Stage builds, backdrop systems, and ambient lighting design.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10325" y="4335760"/>
            <a:ext cx="212620" cy="21262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417806" y="4331395"/>
            <a:ext cx="3118665" cy="442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Floral Walls, Garlands, Pathways &amp; Centerpieces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8417806" y="4880570"/>
            <a:ext cx="3118665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Fresh and structured floral across all event zones.</a:t>
            </a:r>
            <a:endParaRPr lang="en-US" sz="11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10325" y="5295999"/>
            <a:ext cx="212620" cy="21262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417806" y="5291634"/>
            <a:ext cx="3118665" cy="442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Traditional, Modern &amp; Luxury Decor Worlds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8417806" y="5840809"/>
            <a:ext cx="3118665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Inventory-led packages after verification.</a:t>
            </a:r>
            <a:endParaRPr lang="en-US" sz="1100" dirty="0"/>
          </a:p>
        </p:txBody>
      </p:sp>
      <p:sp>
        <p:nvSpPr>
          <p:cNvPr id="21" name="Text 13"/>
          <p:cNvSpPr/>
          <p:nvPr/>
        </p:nvSpPr>
        <p:spPr>
          <a:xfrm>
            <a:off x="11217689" y="6457255"/>
            <a:ext cx="841751" cy="158750"/>
          </a:xfrm>
          <a:prstGeom prst="rect">
            <a:avLst/>
          </a:prstGeom>
          <a:noFill/>
          <a:ln/>
        </p:spPr>
        <p:txBody>
          <a:bodyPr wrap="none" lIns="0" tIns="59541" rIns="99235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0189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Flower advantage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389856"/>
            <a:ext cx="523842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If proven, direct flower sourcing becomes a practical advantage across every event we produce.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61475" y="2018903"/>
            <a:ext cx="2550949" cy="584994"/>
          </a:xfrm>
          <a:prstGeom prst="roundRect">
            <a:avLst>
              <a:gd name="adj" fmla="val 11535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8456" y="2185888"/>
            <a:ext cx="221698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Freshness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3348946" y="2018903"/>
            <a:ext cx="2550949" cy="584994"/>
          </a:xfrm>
          <a:prstGeom prst="roundRect">
            <a:avLst>
              <a:gd name="adj" fmla="val 11535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15927" y="2185888"/>
            <a:ext cx="221698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Speed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61475" y="2740422"/>
            <a:ext cx="2550949" cy="584994"/>
          </a:xfrm>
          <a:prstGeom prst="roundRect">
            <a:avLst>
              <a:gd name="adj" fmla="val 11535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8456" y="2907407"/>
            <a:ext cx="221698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Customization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3348946" y="2740422"/>
            <a:ext cx="2550949" cy="584994"/>
          </a:xfrm>
          <a:prstGeom prst="roundRect">
            <a:avLst>
              <a:gd name="adj" fmla="val 11535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15927" y="2907407"/>
            <a:ext cx="221698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Availability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61475" y="3461941"/>
            <a:ext cx="5238421" cy="584994"/>
          </a:xfrm>
          <a:prstGeom prst="roundRect">
            <a:avLst>
              <a:gd name="adj" fmla="val 11535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8456" y="3628926"/>
            <a:ext cx="4904459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Cost Control</a:t>
            </a:r>
            <a:endParaRPr lang="en-US" sz="15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98149" y="1420614"/>
            <a:ext cx="5238421" cy="1442541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796812" y="1526877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6477830" y="2058194"/>
            <a:ext cx="4879059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Farm Access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6477830" y="2445742"/>
            <a:ext cx="4879059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[VERIFY: direct farm access or flower farm ownership]</a:t>
            </a:r>
            <a:endParaRPr lang="en-US" sz="12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98149" y="2999680"/>
            <a:ext cx="5238421" cy="1442541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796812" y="3105944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2</a:t>
            </a:r>
            <a:endParaRPr lang="en-US" sz="1850" dirty="0"/>
          </a:p>
        </p:txBody>
      </p:sp>
      <p:sp>
        <p:nvSpPr>
          <p:cNvPr id="20" name="Text 16"/>
          <p:cNvSpPr/>
          <p:nvPr/>
        </p:nvSpPr>
        <p:spPr>
          <a:xfrm>
            <a:off x="6477830" y="3637260"/>
            <a:ext cx="4879059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Varieties &amp; Seasonality</a:t>
            </a:r>
            <a:endParaRPr lang="en-US" sz="1550" dirty="0"/>
          </a:p>
        </p:txBody>
      </p:sp>
      <p:sp>
        <p:nvSpPr>
          <p:cNvPr id="21" name="Text 17"/>
          <p:cNvSpPr/>
          <p:nvPr/>
        </p:nvSpPr>
        <p:spPr>
          <a:xfrm>
            <a:off x="6477830" y="4024809"/>
            <a:ext cx="4879059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[VERIFY: flower varieties and seasonality]</a:t>
            </a:r>
            <a:endParaRPr lang="en-US" sz="125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98149" y="4578747"/>
            <a:ext cx="5238421" cy="1442541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796812" y="4685010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</a:t>
            </a:r>
            <a:endParaRPr lang="en-US" sz="1850" dirty="0"/>
          </a:p>
        </p:txBody>
      </p:sp>
      <p:sp>
        <p:nvSpPr>
          <p:cNvPr id="24" name="Text 19"/>
          <p:cNvSpPr/>
          <p:nvPr/>
        </p:nvSpPr>
        <p:spPr>
          <a:xfrm>
            <a:off x="6477830" y="5216327"/>
            <a:ext cx="4879059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Storage &amp; Freshness</a:t>
            </a:r>
            <a:endParaRPr lang="en-US" sz="1550" dirty="0"/>
          </a:p>
        </p:txBody>
      </p:sp>
      <p:sp>
        <p:nvSpPr>
          <p:cNvPr id="25" name="Text 20"/>
          <p:cNvSpPr/>
          <p:nvPr/>
        </p:nvSpPr>
        <p:spPr>
          <a:xfrm>
            <a:off x="6477830" y="5603875"/>
            <a:ext cx="4879059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[VERIFY: storage, freshness, sourcing, and backup suppliers]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11144368" y="6457255"/>
            <a:ext cx="915072" cy="158750"/>
          </a:xfrm>
          <a:prstGeom prst="rect">
            <a:avLst/>
          </a:prstGeom>
          <a:noFill/>
          <a:ln/>
        </p:spPr>
        <p:txBody>
          <a:bodyPr wrap="none" lIns="0" tIns="59541" rIns="99235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6982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Owned inventory advantage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438499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Once documented, inventory turns the pitch from "beautiful decor" into "repeatable production capability."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953544"/>
            <a:ext cx="3496877" cy="231179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68183" y="308203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75881" y="3734991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Mandap Structures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75881" y="4143673"/>
            <a:ext cx="306806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[VERIFY: owned mandap structures]</a:t>
            </a:r>
            <a:endParaRPr lang="en-US" sz="1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2953544"/>
            <a:ext cx="3496877" cy="231179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54067" y="308203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4561766" y="3734991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Stages &amp; Backdrops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4561766" y="4143673"/>
            <a:ext cx="306806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[VERIFY: stages, backdrops, gates, lighting, props, seating, floral structures]</a:t>
            </a:r>
            <a:endParaRPr lang="en-US" sz="14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3244" y="2953544"/>
            <a:ext cx="3496877" cy="231179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39952" y="308203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8247650" y="3734991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Quantities &amp; Condition</a:t>
            </a:r>
            <a:endParaRPr lang="en-US" sz="1850" dirty="0"/>
          </a:p>
        </p:txBody>
      </p:sp>
      <p:sp>
        <p:nvSpPr>
          <p:cNvPr id="15" name="Text 10"/>
          <p:cNvSpPr/>
          <p:nvPr/>
        </p:nvSpPr>
        <p:spPr>
          <a:xfrm>
            <a:off x="8247650" y="4143673"/>
            <a:ext cx="306806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[VERIFY: quantities, condition, transport needs, setup times]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1144368" y="6457255"/>
            <a:ext cx="915072" cy="158750"/>
          </a:xfrm>
          <a:prstGeom prst="rect">
            <a:avLst/>
          </a:prstGeom>
          <a:noFill/>
          <a:ln/>
        </p:spPr>
        <p:txBody>
          <a:bodyPr wrap="none" lIns="0" tIns="59541" rIns="99235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3777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Case proof placeholder: compressed setup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481957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Source PDF mentions a major Chorwad private function and a compressed setup timeline.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346648"/>
            <a:ext cx="5203794" cy="25400"/>
          </a:xfrm>
          <a:prstGeom prst="roundRect">
            <a:avLst>
              <a:gd name="adj" fmla="val 59999"/>
            </a:avLst>
          </a:prstGeom>
          <a:solidFill>
            <a:srgbClr val="E5E0DF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363190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Public wording until verified: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661475" y="4139803"/>
            <a:ext cx="25399" cy="944860"/>
          </a:xfrm>
          <a:prstGeom prst="roundRect">
            <a:avLst>
              <a:gd name="adj" fmla="val 60001"/>
            </a:avLst>
          </a:prstGeom>
          <a:solidFill>
            <a:srgbClr val="F2F2F3"/>
          </a:solidFill>
          <a:ln/>
        </p:spPr>
      </p:sp>
      <p:sp>
        <p:nvSpPr>
          <p:cNvPr id="7" name="Text 5"/>
          <p:cNvSpPr/>
          <p:nvPr/>
        </p:nvSpPr>
        <p:spPr>
          <a:xfrm>
            <a:off x="944936" y="4309864"/>
            <a:ext cx="492033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[VERIFIED COPY HERE: event, role, timeline, scope, permission status]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332776" y="2524522"/>
            <a:ext cx="5203794" cy="1039416"/>
          </a:xfrm>
          <a:prstGeom prst="roundRect">
            <a:avLst>
              <a:gd name="adj" fmla="val 7638"/>
            </a:avLst>
          </a:prstGeom>
          <a:solidFill>
            <a:srgbClr val="4B3F0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1783" y="2811264"/>
            <a:ext cx="236234" cy="1890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947024" y="2741811"/>
            <a:ext cx="440053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Use this only if evidence confirms exact role, client permission, date, and documented setup window.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1144368" y="6457255"/>
            <a:ext cx="915072" cy="158750"/>
          </a:xfrm>
          <a:prstGeom prst="rect">
            <a:avLst/>
          </a:prstGeom>
          <a:noFill/>
          <a:ln/>
        </p:spPr>
        <p:txBody>
          <a:bodyPr wrap="none" lIns="0" tIns="59541" rIns="99235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8898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Case proof placeholder: hotel relationship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633166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Source PDF mentions Ashopalav Hotel, Bhavnath.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195439"/>
            <a:ext cx="5203794" cy="25400"/>
          </a:xfrm>
          <a:prstGeom prst="roundRect">
            <a:avLst>
              <a:gd name="adj" fmla="val 59999"/>
            </a:avLst>
          </a:prstGeom>
          <a:solidFill>
            <a:srgbClr val="E5E0DF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3480693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Public wording until verified: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661475" y="3988594"/>
            <a:ext cx="25399" cy="944860"/>
          </a:xfrm>
          <a:prstGeom prst="roundRect">
            <a:avLst>
              <a:gd name="adj" fmla="val 60001"/>
            </a:avLst>
          </a:prstGeom>
          <a:solidFill>
            <a:srgbClr val="F2F2F3"/>
          </a:solidFill>
          <a:ln/>
        </p:spPr>
      </p:sp>
      <p:sp>
        <p:nvSpPr>
          <p:cNvPr id="7" name="Text 5"/>
          <p:cNvSpPr/>
          <p:nvPr/>
        </p:nvSpPr>
        <p:spPr>
          <a:xfrm>
            <a:off x="944936" y="4158655"/>
            <a:ext cx="492033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[VERIFIED COPY HERE: relationship type, scope, dates, permission status]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332776" y="2675731"/>
            <a:ext cx="5203794" cy="1039416"/>
          </a:xfrm>
          <a:prstGeom prst="roundRect">
            <a:avLst>
              <a:gd name="adj" fmla="val 7638"/>
            </a:avLst>
          </a:prstGeom>
          <a:solidFill>
            <a:srgbClr val="450707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1783" y="2962473"/>
            <a:ext cx="236234" cy="1890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947024" y="2893020"/>
            <a:ext cx="440053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Do not use "exclusive" unless a written agreement confirms it.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1144368" y="6457255"/>
            <a:ext cx="915072" cy="158750"/>
          </a:xfrm>
          <a:prstGeom prst="rect">
            <a:avLst/>
          </a:prstGeom>
          <a:noFill/>
          <a:ln/>
        </p:spPr>
        <p:txBody>
          <a:bodyPr wrap="none" lIns="0" tIns="59541" rIns="99235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3777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Case proof placeholder: cultural event scale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481957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Source PDF mentions Mahashivratri at Bhavnath and Kirtidan Gadhvi Dayro at Ashopalav Hotel.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346648"/>
            <a:ext cx="5203794" cy="25400"/>
          </a:xfrm>
          <a:prstGeom prst="roundRect">
            <a:avLst>
              <a:gd name="adj" fmla="val 59999"/>
            </a:avLst>
          </a:prstGeom>
          <a:solidFill>
            <a:srgbClr val="E5E0DF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363190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Public wording until verified: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661475" y="4139803"/>
            <a:ext cx="25399" cy="944860"/>
          </a:xfrm>
          <a:prstGeom prst="roundRect">
            <a:avLst>
              <a:gd name="adj" fmla="val 60001"/>
            </a:avLst>
          </a:prstGeom>
          <a:solidFill>
            <a:srgbClr val="F2F2F3"/>
          </a:solidFill>
          <a:ln/>
        </p:spPr>
      </p:sp>
      <p:sp>
        <p:nvSpPr>
          <p:cNvPr id="7" name="Text 5"/>
          <p:cNvSpPr/>
          <p:nvPr/>
        </p:nvSpPr>
        <p:spPr>
          <a:xfrm>
            <a:off x="944936" y="4309864"/>
            <a:ext cx="492033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[VERIFIED COPY HERE: event, role, scope, audience scale, date, permission status]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332776" y="2524522"/>
            <a:ext cx="5203794" cy="1039416"/>
          </a:xfrm>
          <a:prstGeom prst="roundRect">
            <a:avLst>
              <a:gd name="adj" fmla="val 7638"/>
            </a:avLst>
          </a:prstGeom>
          <a:solidFill>
            <a:srgbClr val="450707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1783" y="2811264"/>
            <a:ext cx="236234" cy="1890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947024" y="2741811"/>
            <a:ext cx="440053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Do not imply main planner status if the business was a decorator, supplier, or subcontractor.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1144368" y="6457255"/>
            <a:ext cx="915072" cy="158750"/>
          </a:xfrm>
          <a:prstGeom prst="rect">
            <a:avLst/>
          </a:prstGeom>
          <a:noFill/>
          <a:ln/>
        </p:spPr>
        <p:txBody>
          <a:bodyPr wrap="none" lIns="0" tIns="59541" rIns="99235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3777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Case proof placeholder: premium properties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481957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Source PDF mentions Bellevue Sarovar Premiere and The Fern Gir Forest Resort.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346648"/>
            <a:ext cx="5203794" cy="25400"/>
          </a:xfrm>
          <a:prstGeom prst="roundRect">
            <a:avLst>
              <a:gd name="adj" fmla="val 59999"/>
            </a:avLst>
          </a:prstGeom>
          <a:solidFill>
            <a:srgbClr val="E5E0DF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363190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Public wording until verified: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661475" y="4139803"/>
            <a:ext cx="25399" cy="944860"/>
          </a:xfrm>
          <a:prstGeom prst="roundRect">
            <a:avLst>
              <a:gd name="adj" fmla="val 60001"/>
            </a:avLst>
          </a:prstGeom>
          <a:solidFill>
            <a:srgbClr val="F2F2F3"/>
          </a:solidFill>
          <a:ln/>
        </p:spPr>
      </p:sp>
      <p:sp>
        <p:nvSpPr>
          <p:cNvPr id="7" name="Text 5"/>
          <p:cNvSpPr/>
          <p:nvPr/>
        </p:nvSpPr>
        <p:spPr>
          <a:xfrm>
            <a:off x="944936" y="4309864"/>
            <a:ext cx="492033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[VERIFIED COPY HERE: property, role, scope, date, permission status]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332776" y="2524522"/>
            <a:ext cx="5203794" cy="1039416"/>
          </a:xfrm>
          <a:prstGeom prst="roundRect">
            <a:avLst>
              <a:gd name="adj" fmla="val 7638"/>
            </a:avLst>
          </a:prstGeom>
          <a:solidFill>
            <a:srgbClr val="450707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1783" y="2811264"/>
            <a:ext cx="236234" cy="1890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947024" y="2741811"/>
            <a:ext cx="440053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Use property names only with permission or clear publishable evidence.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1144368" y="6457255"/>
            <a:ext cx="915072" cy="158750"/>
          </a:xfrm>
          <a:prstGeom prst="rect">
            <a:avLst/>
          </a:prstGeom>
          <a:noFill/>
          <a:ln/>
        </p:spPr>
        <p:txBody>
          <a:bodyPr wrap="none" lIns="0" tIns="59541" rIns="99235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8898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Cultural fluency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633166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PDF highlights Jain community event experience.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195439"/>
            <a:ext cx="5203794" cy="25400"/>
          </a:xfrm>
          <a:prstGeom prst="roundRect">
            <a:avLst>
              <a:gd name="adj" fmla="val 59999"/>
            </a:avLst>
          </a:prstGeom>
          <a:solidFill>
            <a:srgbClr val="E5E0DF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3480693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Public wording until verified: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661475" y="3988594"/>
            <a:ext cx="25399" cy="944860"/>
          </a:xfrm>
          <a:prstGeom prst="roundRect">
            <a:avLst>
              <a:gd name="adj" fmla="val 60001"/>
            </a:avLst>
          </a:prstGeom>
          <a:solidFill>
            <a:srgbClr val="F2F2F3"/>
          </a:solidFill>
          <a:ln/>
        </p:spPr>
      </p:sp>
      <p:sp>
        <p:nvSpPr>
          <p:cNvPr id="7" name="Text 5"/>
          <p:cNvSpPr/>
          <p:nvPr/>
        </p:nvSpPr>
        <p:spPr>
          <a:xfrm>
            <a:off x="944936" y="4158655"/>
            <a:ext cx="492033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[VERIFIED COPY HERE: event types, protocols handled, permission status]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332776" y="2652117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Safe claim direction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332776" y="3136404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Careful planning around family customs, rituals, timing, spatial flow, and hospitality expectations.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1144368" y="6457255"/>
            <a:ext cx="915072" cy="158750"/>
          </a:xfrm>
          <a:prstGeom prst="rect">
            <a:avLst/>
          </a:prstGeom>
          <a:noFill/>
          <a:ln/>
        </p:spPr>
        <p:txBody>
          <a:bodyPr wrap="none" lIns="0" tIns="59541" rIns="99235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45245"/>
            <a:ext cx="1949699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VENUE PROTECTION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61475" y="1132384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Venue protection starts before design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661475" y="1949450"/>
            <a:ext cx="359064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61475" y="2229148"/>
            <a:ext cx="5349047" cy="2540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2369641"/>
            <a:ext cx="5349047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Site Walk Before Proposal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661475" y="2752427"/>
            <a:ext cx="5349047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We understand the space before we commit to any design.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181074" y="1949450"/>
            <a:ext cx="359064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81074" y="2229148"/>
            <a:ext cx="5349146" cy="2540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10" name="Text 8"/>
          <p:cNvSpPr/>
          <p:nvPr/>
        </p:nvSpPr>
        <p:spPr>
          <a:xfrm>
            <a:off x="6181074" y="2369641"/>
            <a:ext cx="534914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Rules Checklist Before Client Commitment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6181074" y="2752427"/>
            <a:ext cx="534914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Venue rules are locked in before the client brief is finalised.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1475" y="3337719"/>
            <a:ext cx="359064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61475" y="3617416"/>
            <a:ext cx="5349047" cy="2540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14" name="Text 12"/>
          <p:cNvSpPr/>
          <p:nvPr/>
        </p:nvSpPr>
        <p:spPr>
          <a:xfrm>
            <a:off x="661475" y="3757910"/>
            <a:ext cx="5349047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Load-In &amp; Load-Out Plan Before Event Week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661475" y="4140696"/>
            <a:ext cx="5349047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Logistics are mapped before the event calendar is under pressure.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81074" y="3337719"/>
            <a:ext cx="359064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81074" y="3617416"/>
            <a:ext cx="5349146" cy="2540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18" name="Text 16"/>
          <p:cNvSpPr/>
          <p:nvPr/>
        </p:nvSpPr>
        <p:spPr>
          <a:xfrm>
            <a:off x="6181074" y="3757910"/>
            <a:ext cx="534914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Surface Protection Where Needed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6181074" y="4140696"/>
            <a:ext cx="534914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Floors, walls, and fixtures are protected as standard.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1475" y="4725988"/>
            <a:ext cx="359064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05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61475" y="5005685"/>
            <a:ext cx="5349047" cy="2540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22" name="Text 20"/>
          <p:cNvSpPr/>
          <p:nvPr/>
        </p:nvSpPr>
        <p:spPr>
          <a:xfrm>
            <a:off x="661475" y="5146179"/>
            <a:ext cx="5349047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Escalation Contact for Venue Operations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661475" y="5528965"/>
            <a:ext cx="5349047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One named contact for any on-site issue during the event.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81074" y="4725988"/>
            <a:ext cx="359064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06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81074" y="5005685"/>
            <a:ext cx="5349146" cy="2540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26" name="Text 24"/>
          <p:cNvSpPr/>
          <p:nvPr/>
        </p:nvSpPr>
        <p:spPr>
          <a:xfrm>
            <a:off x="6181074" y="5146179"/>
            <a:ext cx="534914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Post-Event Debrief &amp; Content Handover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6181074" y="5528965"/>
            <a:ext cx="534914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Structured review and approved content delivered after every event.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144368" y="6457255"/>
            <a:ext cx="915072" cy="158750"/>
          </a:xfrm>
          <a:prstGeom prst="rect">
            <a:avLst/>
          </a:prstGeom>
          <a:noFill/>
          <a:ln/>
        </p:spPr>
        <p:txBody>
          <a:bodyPr wrap="none" lIns="0" tIns="59541" rIns="99235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0466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Safety and welfare claims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388269"/>
            <a:ext cx="10868745" cy="689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7000"/>
              </a:lnSpc>
              <a:spcAft>
                <a:spcPts val="1350"/>
              </a:spcAft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Source PDF mentions labor medical policies, weather preparation, fire-retardant materials, and disaster resilience.</a:t>
            </a:r>
            <a:endParaRPr lang="en-US" sz="130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Until verified, use only process language: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249884"/>
            <a:ext cx="5357778" cy="14875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12821" y="2361406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50581" y="2932311"/>
            <a:ext cx="497956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Labor Insurance / Welfare Policy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850581" y="3289796"/>
            <a:ext cx="4979565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[VERIFY: labor insurance / welfare policy]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2343" y="2249884"/>
            <a:ext cx="5357877" cy="148758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723690" y="2361406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6361449" y="2932311"/>
            <a:ext cx="497966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Event Insurance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6361449" y="3289796"/>
            <a:ext cx="4979664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[VERIFY: event insurance]</a:t>
            </a:r>
            <a:endParaRPr lang="en-US" sz="1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890566"/>
            <a:ext cx="5357778" cy="148758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212821" y="4002088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850581" y="4572992"/>
            <a:ext cx="497956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Material Safety &amp; Fire Treatment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850581" y="4930477"/>
            <a:ext cx="4979565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[VERIFY: material safety and fire treatment]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72343" y="3890566"/>
            <a:ext cx="5357877" cy="148758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723690" y="4002088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2"/>
          <p:cNvSpPr/>
          <p:nvPr/>
        </p:nvSpPr>
        <p:spPr>
          <a:xfrm>
            <a:off x="6361449" y="4572992"/>
            <a:ext cx="497966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Weather &amp; Wind Planning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6361449" y="4930477"/>
            <a:ext cx="4979664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[VERIFY: weather and wind planning]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61475" y="5550396"/>
            <a:ext cx="10868745" cy="634305"/>
          </a:xfrm>
          <a:prstGeom prst="roundRect">
            <a:avLst>
              <a:gd name="adj" fmla="val 11264"/>
            </a:avLst>
          </a:prstGeom>
          <a:solidFill>
            <a:srgbClr val="450707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1532" y="5785545"/>
            <a:ext cx="212620" cy="17006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14209" y="5745956"/>
            <a:ext cx="1075554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Never use "zero-damage guarantee."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11144368" y="6457255"/>
            <a:ext cx="915072" cy="158750"/>
          </a:xfrm>
          <a:prstGeom prst="rect">
            <a:avLst/>
          </a:prstGeom>
          <a:noFill/>
          <a:ln/>
        </p:spPr>
        <p:txBody>
          <a:bodyPr wrap="none" lIns="0" tIns="59541" rIns="99235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68587"/>
            <a:ext cx="167864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HOW WE WORK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61475" y="217467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Operational model</a:t>
            </a:r>
            <a:endParaRPr lang="en-US" sz="3700" dirty="0"/>
          </a:p>
        </p:txBody>
      </p:sp>
      <p:sp>
        <p:nvSpPr>
          <p:cNvPr id="4" name="Shape 2"/>
          <p:cNvSpPr/>
          <p:nvPr/>
        </p:nvSpPr>
        <p:spPr>
          <a:xfrm>
            <a:off x="661475" y="3048794"/>
            <a:ext cx="10868745" cy="1359297"/>
          </a:xfrm>
          <a:prstGeom prst="roundRect">
            <a:avLst>
              <a:gd name="adj" fmla="val 5840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825" y="3055144"/>
            <a:ext cx="3618616" cy="673298"/>
          </a:xfrm>
          <a:prstGeom prst="rect">
            <a:avLst/>
          </a:prstGeom>
          <a:solidFill>
            <a:srgbClr val="3D3D42"/>
          </a:solidFill>
          <a:ln/>
        </p:spPr>
      </p:sp>
      <p:sp>
        <p:nvSpPr>
          <p:cNvPr id="6" name="Text 4"/>
          <p:cNvSpPr/>
          <p:nvPr/>
        </p:nvSpPr>
        <p:spPr>
          <a:xfrm>
            <a:off x="856832" y="3244155"/>
            <a:ext cx="32406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One Planning Contact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4286440" y="3055144"/>
            <a:ext cx="3618715" cy="673298"/>
          </a:xfrm>
          <a:prstGeom prst="rect">
            <a:avLst/>
          </a:prstGeom>
          <a:solidFill>
            <a:srgbClr val="3D3D42"/>
          </a:solidFill>
          <a:ln/>
        </p:spPr>
      </p:sp>
      <p:sp>
        <p:nvSpPr>
          <p:cNvPr id="8" name="Shape 6"/>
          <p:cNvSpPr/>
          <p:nvPr/>
        </p:nvSpPr>
        <p:spPr>
          <a:xfrm>
            <a:off x="4286440" y="3055144"/>
            <a:ext cx="25399" cy="673298"/>
          </a:xfrm>
          <a:prstGeom prst="roundRect">
            <a:avLst>
              <a:gd name="adj" fmla="val 312562"/>
            </a:avLst>
          </a:prstGeom>
          <a:solidFill>
            <a:srgbClr val="56565B"/>
          </a:solidFill>
          <a:ln/>
        </p:spPr>
      </p:sp>
      <p:sp>
        <p:nvSpPr>
          <p:cNvPr id="9" name="Text 7"/>
          <p:cNvSpPr/>
          <p:nvPr/>
        </p:nvSpPr>
        <p:spPr>
          <a:xfrm>
            <a:off x="4475447" y="3244155"/>
            <a:ext cx="324070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One Site Rule File</a:t>
            </a:r>
            <a:endParaRPr lang="en-US" sz="1850" dirty="0"/>
          </a:p>
        </p:txBody>
      </p:sp>
      <p:sp>
        <p:nvSpPr>
          <p:cNvPr id="10" name="Shape 8"/>
          <p:cNvSpPr/>
          <p:nvPr/>
        </p:nvSpPr>
        <p:spPr>
          <a:xfrm>
            <a:off x="7905155" y="3055144"/>
            <a:ext cx="3618715" cy="673298"/>
          </a:xfrm>
          <a:prstGeom prst="rect">
            <a:avLst/>
          </a:prstGeom>
          <a:solidFill>
            <a:srgbClr val="3D3D42"/>
          </a:solidFill>
          <a:ln/>
        </p:spPr>
      </p:sp>
      <p:sp>
        <p:nvSpPr>
          <p:cNvPr id="11" name="Shape 9"/>
          <p:cNvSpPr/>
          <p:nvPr/>
        </p:nvSpPr>
        <p:spPr>
          <a:xfrm>
            <a:off x="7905155" y="3055144"/>
            <a:ext cx="25399" cy="673298"/>
          </a:xfrm>
          <a:prstGeom prst="roundRect">
            <a:avLst>
              <a:gd name="adj" fmla="val 312562"/>
            </a:avLst>
          </a:prstGeom>
          <a:solidFill>
            <a:srgbClr val="56565B"/>
          </a:solidFill>
          <a:ln/>
        </p:spPr>
      </p:sp>
      <p:sp>
        <p:nvSpPr>
          <p:cNvPr id="12" name="Text 10"/>
          <p:cNvSpPr/>
          <p:nvPr/>
        </p:nvSpPr>
        <p:spPr>
          <a:xfrm>
            <a:off x="8094162" y="3244155"/>
            <a:ext cx="324070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One Setup Timeline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667825" y="3728442"/>
            <a:ext cx="5428023" cy="673298"/>
          </a:xfrm>
          <a:prstGeom prst="rect">
            <a:avLst/>
          </a:prstGeom>
          <a:solidFill>
            <a:srgbClr val="3D3D42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825" y="3728442"/>
            <a:ext cx="5428023" cy="25400"/>
          </a:xfrm>
          <a:prstGeom prst="roundRect">
            <a:avLst>
              <a:gd name="adj" fmla="val 312550"/>
            </a:avLst>
          </a:prstGeom>
          <a:solidFill>
            <a:srgbClr val="56565B"/>
          </a:solidFill>
          <a:ln/>
        </p:spPr>
      </p:sp>
      <p:sp>
        <p:nvSpPr>
          <p:cNvPr id="15" name="Text 13"/>
          <p:cNvSpPr/>
          <p:nvPr/>
        </p:nvSpPr>
        <p:spPr>
          <a:xfrm>
            <a:off x="856832" y="3917454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One Decor Scope</a:t>
            </a:r>
            <a:endParaRPr lang="en-US" sz="1850" dirty="0"/>
          </a:p>
        </p:txBody>
      </p:sp>
      <p:sp>
        <p:nvSpPr>
          <p:cNvPr id="16" name="Shape 14"/>
          <p:cNvSpPr/>
          <p:nvPr/>
        </p:nvSpPr>
        <p:spPr>
          <a:xfrm>
            <a:off x="6095848" y="3728442"/>
            <a:ext cx="5428023" cy="673298"/>
          </a:xfrm>
          <a:prstGeom prst="rect">
            <a:avLst/>
          </a:prstGeom>
          <a:solidFill>
            <a:srgbClr val="3D3D42"/>
          </a:solidFill>
          <a:ln/>
        </p:spPr>
      </p:sp>
      <p:sp>
        <p:nvSpPr>
          <p:cNvPr id="17" name="Shape 15"/>
          <p:cNvSpPr/>
          <p:nvPr/>
        </p:nvSpPr>
        <p:spPr>
          <a:xfrm>
            <a:off x="6095848" y="3728442"/>
            <a:ext cx="25399" cy="673298"/>
          </a:xfrm>
          <a:prstGeom prst="roundRect">
            <a:avLst>
              <a:gd name="adj" fmla="val 312562"/>
            </a:avLst>
          </a:prstGeom>
          <a:solidFill>
            <a:srgbClr val="56565B"/>
          </a:solidFill>
          <a:ln/>
        </p:spPr>
      </p:sp>
      <p:sp>
        <p:nvSpPr>
          <p:cNvPr id="18" name="Shape 16"/>
          <p:cNvSpPr/>
          <p:nvPr/>
        </p:nvSpPr>
        <p:spPr>
          <a:xfrm>
            <a:off x="6095848" y="3728442"/>
            <a:ext cx="5428023" cy="25400"/>
          </a:xfrm>
          <a:prstGeom prst="roundRect">
            <a:avLst>
              <a:gd name="adj" fmla="val 312550"/>
            </a:avLst>
          </a:prstGeom>
          <a:solidFill>
            <a:srgbClr val="56565B"/>
          </a:solidFill>
          <a:ln/>
        </p:spPr>
      </p:sp>
      <p:sp>
        <p:nvSpPr>
          <p:cNvPr id="19" name="Text 17"/>
          <p:cNvSpPr/>
          <p:nvPr/>
        </p:nvSpPr>
        <p:spPr>
          <a:xfrm>
            <a:off x="6284854" y="3917454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One Post-Event Review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661475" y="4620716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venue should feel less coordination pressure, not more.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1144368" y="6457255"/>
            <a:ext cx="915072" cy="158750"/>
          </a:xfrm>
          <a:prstGeom prst="rect">
            <a:avLst/>
          </a:prstGeom>
          <a:noFill/>
          <a:ln/>
        </p:spPr>
        <p:txBody>
          <a:bodyPr wrap="none" lIns="0" tIns="59541" rIns="99235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Revenue support for venues</a:t>
            </a:r>
            <a:endParaRPr lang="en-US" sz="1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39006"/>
            <a:ext cx="5319083" cy="53192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7487" y="3264991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The business case is conversion support, not decoration alone.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217487" y="3459857"/>
            <a:ext cx="5319083" cy="503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Decor can help a venue close enquiries faster.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Strong visual references help families imagine the event.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Repeatable packages create faster quoting.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Documented event photos become future sales collateral.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11144368" y="6553200"/>
            <a:ext cx="915072" cy="158750"/>
          </a:xfrm>
          <a:prstGeom prst="rect">
            <a:avLst/>
          </a:prstGeom>
          <a:noFill/>
          <a:ln/>
        </p:spPr>
        <p:txBody>
          <a:bodyPr wrap="none" lIns="0" tIns="59541" rIns="99235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99220"/>
            <a:ext cx="229725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CONTENT &amp; MARKETING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61475" y="120530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Marketing collaboration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661475" y="207942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Each approved event can create content for both brands.</a:t>
            </a:r>
            <a:endParaRPr lang="en-US" sz="14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594471"/>
            <a:ext cx="472468" cy="472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0177" y="2594471"/>
            <a:ext cx="275672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Venue-Tagged Image Sets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1370177" y="3298428"/>
            <a:ext cx="275672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Curated photography attributed to both the venue and the production team.</a:t>
            </a:r>
            <a:endParaRPr lang="en-US" sz="1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2594471"/>
            <a:ext cx="472468" cy="472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71836" y="2594471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Setup &amp; Reveal Reels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5071836" y="3003153"/>
            <a:ext cx="275672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Short-form video content showing the transformation of the space.</a:t>
            </a:r>
            <a:endParaRPr lang="en-US" sz="14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64794" y="2594471"/>
            <a:ext cx="472468" cy="472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773496" y="2594471"/>
            <a:ext cx="275672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Before / After Venue Transformations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8773496" y="3298428"/>
            <a:ext cx="275672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Visual proof of the venue's potential across different event styles.</a:t>
            </a:r>
            <a:endParaRPr lang="en-US" sz="14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583708"/>
            <a:ext cx="472468" cy="472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70177" y="4583708"/>
            <a:ext cx="275672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Seasonal Decor Lookbooks</a:t>
            </a:r>
            <a:endParaRPr lang="en-US" sz="1850" dirty="0"/>
          </a:p>
        </p:txBody>
      </p:sp>
      <p:sp>
        <p:nvSpPr>
          <p:cNvPr id="16" name="Text 10"/>
          <p:cNvSpPr/>
          <p:nvPr/>
        </p:nvSpPr>
        <p:spPr>
          <a:xfrm>
            <a:off x="1370177" y="5287665"/>
            <a:ext cx="275672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Curated reference guides for each season and event type.</a:t>
            </a:r>
            <a:endParaRPr lang="en-US" sz="14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63135" y="4583708"/>
            <a:ext cx="472468" cy="4724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071836" y="4583708"/>
            <a:ext cx="275672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Permission-Safe Case Studies</a:t>
            </a:r>
            <a:endParaRPr lang="en-US" sz="1850" dirty="0"/>
          </a:p>
        </p:txBody>
      </p:sp>
      <p:sp>
        <p:nvSpPr>
          <p:cNvPr id="19" name="Text 12"/>
          <p:cNvSpPr/>
          <p:nvPr/>
        </p:nvSpPr>
        <p:spPr>
          <a:xfrm>
            <a:off x="5071836" y="5287665"/>
            <a:ext cx="275672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Documented event stories published only with full approval.</a:t>
            </a:r>
            <a:endParaRPr lang="en-US" sz="1450" dirty="0"/>
          </a:p>
        </p:txBody>
      </p:sp>
      <p:sp>
        <p:nvSpPr>
          <p:cNvPr id="20" name="Text 13"/>
          <p:cNvSpPr/>
          <p:nvPr/>
        </p:nvSpPr>
        <p:spPr>
          <a:xfrm>
            <a:off x="11144368" y="6457255"/>
            <a:ext cx="915072" cy="158750"/>
          </a:xfrm>
          <a:prstGeom prst="rect">
            <a:avLst/>
          </a:prstGeom>
          <a:noFill/>
          <a:ln/>
        </p:spPr>
        <p:txBody>
          <a:bodyPr wrap="none" lIns="0" tIns="59541" rIns="99235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105991"/>
            <a:ext cx="1858817" cy="287139"/>
          </a:xfrm>
          <a:prstGeom prst="roundRect">
            <a:avLst>
              <a:gd name="adj" fmla="val 22118"/>
            </a:avLst>
          </a:prstGeom>
          <a:solidFill>
            <a:srgbClr val="252528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162645"/>
            <a:ext cx="224159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PARTNERSHIP MODEL 1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46873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Approved Vendor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342852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Best for first relationship stage.</a:t>
            </a:r>
            <a:endParaRPr lang="en-US" sz="14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857897"/>
            <a:ext cx="5339820" cy="1442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7479" y="3072309"/>
            <a:ext cx="48094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Shared Venue Rules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977479" y="3480991"/>
            <a:ext cx="48094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Venue rules and restrictions are formally shared and acknowledged.</a:t>
            </a:r>
            <a:endParaRPr lang="en-US" sz="14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0301" y="2857897"/>
            <a:ext cx="5339919" cy="144234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06305" y="3072309"/>
            <a:ext cx="48095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Defined Service Categories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6506305" y="3480991"/>
            <a:ext cx="48095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Clear scope of what we are approved to deliver on-site.</a:t>
            </a:r>
            <a:endParaRPr lang="en-US" sz="14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489252"/>
            <a:ext cx="5339820" cy="113992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77479" y="4703663"/>
            <a:ext cx="48094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Referral Process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977479" y="5112345"/>
            <a:ext cx="48094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 defined path for the venue team to refer enquiries to us.</a:t>
            </a:r>
            <a:endParaRPr lang="en-US" sz="14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90301" y="4489252"/>
            <a:ext cx="5339919" cy="113992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506305" y="4703663"/>
            <a:ext cx="48095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Event-by-Event Review</a:t>
            </a:r>
            <a:endParaRPr lang="en-US" sz="1850" dirty="0"/>
          </a:p>
        </p:txBody>
      </p:sp>
      <p:sp>
        <p:nvSpPr>
          <p:cNvPr id="17" name="Text 11"/>
          <p:cNvSpPr/>
          <p:nvPr/>
        </p:nvSpPr>
        <p:spPr>
          <a:xfrm>
            <a:off x="6506305" y="5112345"/>
            <a:ext cx="48095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Each event is reviewed before the relationship progresses.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11144368" y="6457255"/>
            <a:ext cx="915072" cy="158750"/>
          </a:xfrm>
          <a:prstGeom prst="rect">
            <a:avLst/>
          </a:prstGeom>
          <a:noFill/>
          <a:ln/>
        </p:spPr>
        <p:txBody>
          <a:bodyPr wrap="none" lIns="0" tIns="59541" rIns="99235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954782"/>
            <a:ext cx="1858817" cy="287139"/>
          </a:xfrm>
          <a:prstGeom prst="roundRect">
            <a:avLst>
              <a:gd name="adj" fmla="val 22118"/>
            </a:avLst>
          </a:prstGeom>
          <a:solidFill>
            <a:srgbClr val="252528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011436"/>
            <a:ext cx="224159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PARTNERSHIP MODEL 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31752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Preferred Decor Partner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191643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Best once trust is proven.</a:t>
            </a:r>
            <a:endParaRPr lang="en-US" sz="14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706688"/>
            <a:ext cx="5339820" cy="1442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7479" y="2921099"/>
            <a:ext cx="48094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Site-Specific Decor Menus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977479" y="3329781"/>
            <a:ext cx="48094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Curated decor options designed specifically for your venue's spaces.</a:t>
            </a:r>
            <a:endParaRPr lang="en-US" sz="14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0301" y="2706688"/>
            <a:ext cx="5339919" cy="144234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06305" y="2921099"/>
            <a:ext cx="48095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Priority Planning Support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6506305" y="3329781"/>
            <a:ext cx="48095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Your events receive first-priority scheduling and planning attention.</a:t>
            </a:r>
            <a:endParaRPr lang="en-US" sz="14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338042"/>
            <a:ext cx="5339820" cy="144234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77479" y="4552454"/>
            <a:ext cx="48094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Co-Created Visual References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977479" y="4961136"/>
            <a:ext cx="48094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Mood boards and references built together for your venue's aesthetic.</a:t>
            </a:r>
            <a:endParaRPr lang="en-US" sz="14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90301" y="4338042"/>
            <a:ext cx="5339919" cy="144234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506305" y="4552454"/>
            <a:ext cx="48095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Quarterly Review with Venue Leadership</a:t>
            </a:r>
            <a:endParaRPr lang="en-US" sz="1850" dirty="0"/>
          </a:p>
        </p:txBody>
      </p:sp>
      <p:sp>
        <p:nvSpPr>
          <p:cNvPr id="17" name="Text 11"/>
          <p:cNvSpPr/>
          <p:nvPr/>
        </p:nvSpPr>
        <p:spPr>
          <a:xfrm>
            <a:off x="6506305" y="4961136"/>
            <a:ext cx="48095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Structured review meetings to align on performance and direction.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11144368" y="6457255"/>
            <a:ext cx="915072" cy="158750"/>
          </a:xfrm>
          <a:prstGeom prst="rect">
            <a:avLst/>
          </a:prstGeom>
          <a:noFill/>
          <a:ln/>
        </p:spPr>
        <p:txBody>
          <a:bodyPr wrap="none" lIns="0" tIns="59541" rIns="99235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11709"/>
            <a:ext cx="1765851" cy="272752"/>
          </a:xfrm>
          <a:prstGeom prst="roundRect">
            <a:avLst>
              <a:gd name="adj" fmla="val 22121"/>
            </a:avLst>
          </a:prstGeom>
          <a:solidFill>
            <a:srgbClr val="252528"/>
          </a:solidFill>
          <a:ln/>
        </p:spPr>
      </p:sp>
      <p:sp>
        <p:nvSpPr>
          <p:cNvPr id="3" name="Text 1"/>
          <p:cNvSpPr/>
          <p:nvPr/>
        </p:nvSpPr>
        <p:spPr>
          <a:xfrm>
            <a:off x="769125" y="865485"/>
            <a:ext cx="2160137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PARTNERSHIP MODEL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1152624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Co-Branded Packages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661475" y="1969691"/>
            <a:ext cx="11478330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Best for high-intent wedding enquiries.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441674"/>
            <a:ext cx="5349047" cy="13527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7954" y="2646561"/>
            <a:ext cx="483768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Venue Plus Decor Concept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967954" y="3029347"/>
            <a:ext cx="4837686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 combined offering that presents the venue and decor as one seamless experience.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1074" y="2441674"/>
            <a:ext cx="5349146" cy="13527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87553" y="2646561"/>
            <a:ext cx="483778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Indicative Inclusions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6487553" y="3029347"/>
            <a:ext cx="483778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Clear scope of what is included in each package tier.</a:t>
            </a:r>
            <a:endParaRPr lang="en-US" sz="14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964980"/>
            <a:ext cx="5349047" cy="107265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7954" y="4169866"/>
            <a:ext cx="483768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Photo References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967954" y="4552652"/>
            <a:ext cx="483768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Visual references that help families picture the finished event.</a:t>
            </a:r>
            <a:endParaRPr lang="en-US" sz="14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81074" y="3964980"/>
            <a:ext cx="5349146" cy="107265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487553" y="4169866"/>
            <a:ext cx="483778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Clear Inquiry Path</a:t>
            </a:r>
            <a:endParaRPr lang="en-US" sz="1750" dirty="0"/>
          </a:p>
        </p:txBody>
      </p:sp>
      <p:sp>
        <p:nvSpPr>
          <p:cNvPr id="17" name="Text 11"/>
          <p:cNvSpPr/>
          <p:nvPr/>
        </p:nvSpPr>
        <p:spPr>
          <a:xfrm>
            <a:off x="6487553" y="4552652"/>
            <a:ext cx="483778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 defined process for families to enquire and convert.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661475" y="5229523"/>
            <a:ext cx="10868745" cy="693837"/>
          </a:xfrm>
          <a:prstGeom prst="roundRect">
            <a:avLst>
              <a:gd name="adj" fmla="val 10870"/>
            </a:avLst>
          </a:prstGeom>
          <a:solidFill>
            <a:srgbClr val="3D3D42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0957" y="5480943"/>
            <a:ext cx="224427" cy="179487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244867" y="5444927"/>
            <a:ext cx="1071545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No pricing unless approved.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11144368" y="6457255"/>
            <a:ext cx="915072" cy="158750"/>
          </a:xfrm>
          <a:prstGeom prst="rect">
            <a:avLst/>
          </a:prstGeom>
          <a:noFill/>
          <a:ln/>
        </p:spPr>
        <p:txBody>
          <a:bodyPr wrap="none" lIns="0" tIns="59541" rIns="99235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233360" y="597495"/>
            <a:ext cx="190366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GETTING STARTED</a:t>
            </a:r>
            <a:endParaRPr lang="en-US" sz="1150" dirty="0"/>
          </a:p>
        </p:txBody>
      </p:sp>
      <p:sp>
        <p:nvSpPr>
          <p:cNvPr id="6" name="Text 2"/>
          <p:cNvSpPr/>
          <p:nvPr/>
        </p:nvSpPr>
        <p:spPr>
          <a:xfrm>
            <a:off x="5233360" y="903585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Recommended pilot</a:t>
            </a:r>
            <a:endParaRPr lang="en-US" sz="3700" dirty="0"/>
          </a:p>
        </p:txBody>
      </p:sp>
      <p:sp>
        <p:nvSpPr>
          <p:cNvPr id="7" name="Text 3"/>
          <p:cNvSpPr/>
          <p:nvPr/>
        </p:nvSpPr>
        <p:spPr>
          <a:xfrm>
            <a:off x="5233360" y="1777702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Start with three events.</a:t>
            </a:r>
            <a:endParaRPr lang="en-US" sz="1450" dirty="0"/>
          </a:p>
        </p:txBody>
      </p:sp>
      <p:sp>
        <p:nvSpPr>
          <p:cNvPr id="8" name="Shape 4"/>
          <p:cNvSpPr/>
          <p:nvPr/>
        </p:nvSpPr>
        <p:spPr>
          <a:xfrm>
            <a:off x="5445981" y="2292747"/>
            <a:ext cx="25399" cy="3386435"/>
          </a:xfrm>
          <a:prstGeom prst="roundRect">
            <a:avLst>
              <a:gd name="adj" fmla="val 312562"/>
            </a:avLst>
          </a:prstGeom>
          <a:solidFill>
            <a:srgbClr val="56565B"/>
          </a:solidFill>
          <a:ln/>
        </p:spPr>
      </p:sp>
      <p:sp>
        <p:nvSpPr>
          <p:cNvPr id="9" name="Shape 5"/>
          <p:cNvSpPr/>
          <p:nvPr/>
        </p:nvSpPr>
        <p:spPr>
          <a:xfrm>
            <a:off x="5633202" y="2492673"/>
            <a:ext cx="567021" cy="25400"/>
          </a:xfrm>
          <a:prstGeom prst="roundRect">
            <a:avLst>
              <a:gd name="adj" fmla="val 312550"/>
            </a:avLst>
          </a:prstGeom>
          <a:solidFill>
            <a:srgbClr val="56565B"/>
          </a:solidFill>
          <a:ln/>
        </p:spPr>
      </p:sp>
      <p:sp>
        <p:nvSpPr>
          <p:cNvPr id="10" name="Shape 6"/>
          <p:cNvSpPr/>
          <p:nvPr/>
        </p:nvSpPr>
        <p:spPr>
          <a:xfrm>
            <a:off x="5233360" y="2292747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304251" y="2328168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6391016" y="2357636"/>
            <a:ext cx="51392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Event 1</a:t>
            </a:r>
            <a:endParaRPr lang="en-US" sz="1850" dirty="0"/>
          </a:p>
        </p:txBody>
      </p:sp>
      <p:sp>
        <p:nvSpPr>
          <p:cNvPr id="13" name="Text 9"/>
          <p:cNvSpPr/>
          <p:nvPr/>
        </p:nvSpPr>
        <p:spPr>
          <a:xfrm>
            <a:off x="6391016" y="2766318"/>
            <a:ext cx="513920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Document rules, flow, setup, and content needs.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5633202" y="3646686"/>
            <a:ext cx="567021" cy="25400"/>
          </a:xfrm>
          <a:prstGeom prst="roundRect">
            <a:avLst>
              <a:gd name="adj" fmla="val 312550"/>
            </a:avLst>
          </a:prstGeom>
          <a:solidFill>
            <a:srgbClr val="56565B"/>
          </a:solidFill>
          <a:ln/>
        </p:spPr>
      </p:sp>
      <p:sp>
        <p:nvSpPr>
          <p:cNvPr id="15" name="Shape 11"/>
          <p:cNvSpPr/>
          <p:nvPr/>
        </p:nvSpPr>
        <p:spPr>
          <a:xfrm>
            <a:off x="5233360" y="3446760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304251" y="3482181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6391016" y="3511649"/>
            <a:ext cx="51392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Event 2</a:t>
            </a:r>
            <a:endParaRPr lang="en-US" sz="1850" dirty="0"/>
          </a:p>
        </p:txBody>
      </p:sp>
      <p:sp>
        <p:nvSpPr>
          <p:cNvPr id="18" name="Text 14"/>
          <p:cNvSpPr/>
          <p:nvPr/>
        </p:nvSpPr>
        <p:spPr>
          <a:xfrm>
            <a:off x="6391016" y="3920331"/>
            <a:ext cx="513920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Refine package language and visual references.</a:t>
            </a:r>
            <a:endParaRPr lang="en-US" sz="1450" dirty="0"/>
          </a:p>
        </p:txBody>
      </p:sp>
      <p:sp>
        <p:nvSpPr>
          <p:cNvPr id="19" name="Shape 15"/>
          <p:cNvSpPr/>
          <p:nvPr/>
        </p:nvSpPr>
        <p:spPr>
          <a:xfrm>
            <a:off x="5633202" y="4800699"/>
            <a:ext cx="567021" cy="25400"/>
          </a:xfrm>
          <a:prstGeom prst="roundRect">
            <a:avLst>
              <a:gd name="adj" fmla="val 312550"/>
            </a:avLst>
          </a:prstGeom>
          <a:solidFill>
            <a:srgbClr val="56565B"/>
          </a:solidFill>
          <a:ln/>
        </p:spPr>
      </p:sp>
      <p:sp>
        <p:nvSpPr>
          <p:cNvPr id="20" name="Shape 16"/>
          <p:cNvSpPr/>
          <p:nvPr/>
        </p:nvSpPr>
        <p:spPr>
          <a:xfrm>
            <a:off x="5233360" y="4600773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304251" y="4636195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6391016" y="4665663"/>
            <a:ext cx="51392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Event 3</a:t>
            </a:r>
            <a:endParaRPr lang="en-US" sz="1850" dirty="0"/>
          </a:p>
        </p:txBody>
      </p:sp>
      <p:sp>
        <p:nvSpPr>
          <p:cNvPr id="23" name="Text 19"/>
          <p:cNvSpPr/>
          <p:nvPr/>
        </p:nvSpPr>
        <p:spPr>
          <a:xfrm>
            <a:off x="6391016" y="5074345"/>
            <a:ext cx="513920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Measure response speed, setup quality, guest experience, and venue-team feedback.</a:t>
            </a:r>
            <a:endParaRPr lang="en-US" sz="1450" dirty="0"/>
          </a:p>
        </p:txBody>
      </p:sp>
      <p:sp>
        <p:nvSpPr>
          <p:cNvPr id="24" name="Text 20"/>
          <p:cNvSpPr/>
          <p:nvPr/>
        </p:nvSpPr>
        <p:spPr>
          <a:xfrm>
            <a:off x="5233360" y="5891808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Then decide the partnership model.</a:t>
            </a:r>
            <a:endParaRPr lang="en-US" sz="1450" dirty="0"/>
          </a:p>
        </p:txBody>
      </p:sp>
      <p:sp>
        <p:nvSpPr>
          <p:cNvPr id="25" name="Text 21"/>
          <p:cNvSpPr/>
          <p:nvPr/>
        </p:nvSpPr>
        <p:spPr>
          <a:xfrm>
            <a:off x="11144368" y="6457255"/>
            <a:ext cx="915072" cy="158750"/>
          </a:xfrm>
          <a:prstGeom prst="rect">
            <a:avLst/>
          </a:prstGeom>
          <a:noFill/>
          <a:ln/>
        </p:spPr>
        <p:txBody>
          <a:bodyPr wrap="none" lIns="0" tIns="59541" rIns="99235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4059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Outreach path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210" y="2171303"/>
            <a:ext cx="6565736" cy="32094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15946" y="3275560"/>
            <a:ext cx="1761224" cy="191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Target Decision‑Makers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617110" y="2540821"/>
            <a:ext cx="1530667" cy="191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Send Concise Deck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31984" y="3955448"/>
            <a:ext cx="2210964" cy="3826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Deliver Printed Premium Deck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079603" y="4799462"/>
            <a:ext cx="1530667" cy="191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Offer Site Walk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17270" y="1551682"/>
            <a:ext cx="3519201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Target Contacts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8017270" y="2002730"/>
            <a:ext cx="3519201" cy="1299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General Managers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Directors of Sales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Banquet heads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Owners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017270" y="3538736"/>
            <a:ext cx="3519201" cy="25400"/>
          </a:xfrm>
          <a:prstGeom prst="roundRect">
            <a:avLst>
              <a:gd name="adj" fmla="val 59999"/>
            </a:avLst>
          </a:prstGeom>
          <a:solidFill>
            <a:srgbClr val="E5E0DF">
              <a:alpha val="5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8017270" y="3800872"/>
            <a:ext cx="3519201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Approach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8017270" y="4251920"/>
            <a:ext cx="3519201" cy="1859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Send a concise digital deck.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Follow with a printed premium deck for priority venues.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Offer a site walk, not a vague meeting.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Invite serious prospects to inspect a live setup when permission allows.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144368" y="6457255"/>
            <a:ext cx="915072" cy="158750"/>
          </a:xfrm>
          <a:prstGeom prst="rect">
            <a:avLst/>
          </a:prstGeom>
          <a:noFill/>
          <a:ln/>
        </p:spPr>
        <p:txBody>
          <a:bodyPr wrap="none" lIns="0" tIns="59541" rIns="99235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4505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Brand identity sample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913731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Use the uploaded logo sample board image if provided.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428776"/>
            <a:ext cx="5339820" cy="1101824"/>
          </a:xfrm>
          <a:prstGeom prst="roundRect">
            <a:avLst>
              <a:gd name="adj" fmla="val 7205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6832" y="2624138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Master Stacked Lockup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56832" y="3032820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Primary brand mark for all formal applications.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190301" y="2428776"/>
            <a:ext cx="5339919" cy="1101824"/>
          </a:xfrm>
          <a:prstGeom prst="roundRect">
            <a:avLst>
              <a:gd name="adj" fmla="val 7205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85658" y="2624138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Seal / Avatar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385658" y="3032820"/>
            <a:ext cx="49492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Compact circular mark for social and digital use.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61475" y="3719612"/>
            <a:ext cx="5339820" cy="1101824"/>
          </a:xfrm>
          <a:prstGeom prst="roundRect">
            <a:avLst>
              <a:gd name="adj" fmla="val 7205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6832" y="3914973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Horizontal Nav Lockup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856832" y="4323655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Wide-format mark for website headers and banners.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190301" y="3719612"/>
            <a:ext cx="5339919" cy="1101824"/>
          </a:xfrm>
          <a:prstGeom prst="roundRect">
            <a:avLst>
              <a:gd name="adj" fmla="val 7205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5658" y="3914973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Favicon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6385658" y="4323655"/>
            <a:ext cx="49492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Minimal mark for browser tabs and app icons.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61475" y="5034062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3D3D42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5301754"/>
            <a:ext cx="236234" cy="18901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275723" y="5270302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Logo shown as concept system only. Final mark requires vector redraw and trademark search.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11144368" y="6457255"/>
            <a:ext cx="915072" cy="158750"/>
          </a:xfrm>
          <a:prstGeom prst="rect">
            <a:avLst/>
          </a:prstGeom>
          <a:noFill/>
          <a:ln/>
        </p:spPr>
        <p:txBody>
          <a:bodyPr wrap="none" lIns="0" tIns="59541" rIns="99235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0382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Logo direction for Gamma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266950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Mark Direction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751237"/>
            <a:ext cx="5203794" cy="1341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Gold Asiatic lion, not a generic heraldic lion.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Short sparse Gir lion mane with visible ears.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No crowns, shields, sparkles, foil, script fonts, or black-and-gold cliche.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332776" y="2266950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Colour System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6332776" y="2774851"/>
            <a:ext cx="2507394" cy="1177429"/>
          </a:xfrm>
          <a:prstGeom prst="roundRect">
            <a:avLst>
              <a:gd name="adj" fmla="val 6742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28133" y="2970213"/>
            <a:ext cx="21166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Gold Mark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528133" y="3454499"/>
            <a:ext cx="211668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#CFAA6D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9029176" y="2774851"/>
            <a:ext cx="2507394" cy="1177429"/>
          </a:xfrm>
          <a:prstGeom prst="roundRect">
            <a:avLst>
              <a:gd name="adj" fmla="val 6742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24533" y="2970213"/>
            <a:ext cx="21166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Teal Wordmark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9224533" y="3454499"/>
            <a:ext cx="211668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#0A5356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332776" y="4141291"/>
            <a:ext cx="2507394" cy="1177429"/>
          </a:xfrm>
          <a:prstGeom prst="roundRect">
            <a:avLst>
              <a:gd name="adj" fmla="val 6742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28133" y="4336653"/>
            <a:ext cx="21166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Ivory Background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528133" y="4820940"/>
            <a:ext cx="211668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#F9F6EF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9029176" y="4141291"/>
            <a:ext cx="2507394" cy="1177429"/>
          </a:xfrm>
          <a:prstGeom prst="roundRect">
            <a:avLst>
              <a:gd name="adj" fmla="val 6742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24533" y="4336653"/>
            <a:ext cx="21166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Dark Teal Slides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9224533" y="4820940"/>
            <a:ext cx="211668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#013C3C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1144368" y="6457255"/>
            <a:ext cx="915072" cy="158750"/>
          </a:xfrm>
          <a:prstGeom prst="rect">
            <a:avLst/>
          </a:prstGeom>
          <a:noFill/>
          <a:ln/>
        </p:spPr>
        <p:txBody>
          <a:bodyPr wrap="none" lIns="0" tIns="59541" rIns="99235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6638"/>
            <a:ext cx="10868745" cy="552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What we need from the venue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61475" y="1449586"/>
            <a:ext cx="353508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01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61475" y="1730871"/>
            <a:ext cx="5351725" cy="1905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1857276"/>
            <a:ext cx="5351725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Spaces to Prioritise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61475" y="2232521"/>
            <a:ext cx="5351725" cy="273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Which halls, lawns, entrances, and zones are available for event use.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178495" y="1449586"/>
            <a:ext cx="353508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02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78495" y="1730871"/>
            <a:ext cx="5351725" cy="1905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9" name="Text 7"/>
          <p:cNvSpPr/>
          <p:nvPr/>
        </p:nvSpPr>
        <p:spPr>
          <a:xfrm>
            <a:off x="6178495" y="1857276"/>
            <a:ext cx="5351725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Rules and Restrictions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178495" y="2232521"/>
            <a:ext cx="5351725" cy="547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Load-in windows, surface restrictions, noise curfews, and vendor access policies.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61475" y="3077666"/>
            <a:ext cx="353508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03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61475" y="3358952"/>
            <a:ext cx="5351725" cy="1905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13" name="Text 11"/>
          <p:cNvSpPr/>
          <p:nvPr/>
        </p:nvSpPr>
        <p:spPr>
          <a:xfrm>
            <a:off x="661475" y="3485356"/>
            <a:ext cx="5351725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Event Calendar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61475" y="3860602"/>
            <a:ext cx="5351725" cy="273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Upcoming bookings and available dates for pilot planning.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178495" y="3077666"/>
            <a:ext cx="353508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04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78495" y="3358952"/>
            <a:ext cx="5351725" cy="1905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17" name="Text 15"/>
          <p:cNvSpPr/>
          <p:nvPr/>
        </p:nvSpPr>
        <p:spPr>
          <a:xfrm>
            <a:off x="6178495" y="3485356"/>
            <a:ext cx="5351725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Photo and Video Permissions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178495" y="3860602"/>
            <a:ext cx="5351725" cy="547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What can be captured, shared, and published from events at your property.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61475" y="4705747"/>
            <a:ext cx="353508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05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61475" y="4987032"/>
            <a:ext cx="5351725" cy="1905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21" name="Text 19"/>
          <p:cNvSpPr/>
          <p:nvPr/>
        </p:nvSpPr>
        <p:spPr>
          <a:xfrm>
            <a:off x="661475" y="5113437"/>
            <a:ext cx="5351725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Decision-Maker for Approvals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61475" y="5488682"/>
            <a:ext cx="5351725" cy="547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One named contact who can approve decor scope, content, and partnership terms.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178495" y="4705747"/>
            <a:ext cx="353508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06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178495" y="4987032"/>
            <a:ext cx="5351725" cy="1905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25" name="Text 23"/>
          <p:cNvSpPr/>
          <p:nvPr/>
        </p:nvSpPr>
        <p:spPr>
          <a:xfrm>
            <a:off x="6178495" y="5113437"/>
            <a:ext cx="5351725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Three Pilot Event Opportunities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178495" y="5488682"/>
            <a:ext cx="5351725" cy="273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starting point for building a documented, repeatable partnership.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1144368" y="6457255"/>
            <a:ext cx="915072" cy="158750"/>
          </a:xfrm>
          <a:prstGeom prst="rect">
            <a:avLst/>
          </a:prstGeom>
          <a:noFill/>
          <a:ln/>
        </p:spPr>
        <p:txBody>
          <a:bodyPr wrap="none" lIns="0" tIns="59541" rIns="99235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72009"/>
            <a:ext cx="137841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NEXT STEP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61475" y="177809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Next step</a:t>
            </a:r>
            <a:endParaRPr lang="en-US" sz="3700" dirty="0"/>
          </a:p>
        </p:txBody>
      </p:sp>
      <p:sp>
        <p:nvSpPr>
          <p:cNvPr id="4" name="Shape 2"/>
          <p:cNvSpPr/>
          <p:nvPr/>
        </p:nvSpPr>
        <p:spPr>
          <a:xfrm>
            <a:off x="661475" y="2652216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2365" y="2687638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75723" y="2717105"/>
            <a:ext cx="285117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Book a venue walk-through.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4363135" y="2652216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34025" y="2687638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977383" y="2717105"/>
            <a:ext cx="285117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Share upcoming wedding or event dates.</a:t>
            </a:r>
            <a:endParaRPr lang="en-US" sz="1850" dirty="0"/>
          </a:p>
        </p:txBody>
      </p:sp>
      <p:sp>
        <p:nvSpPr>
          <p:cNvPr id="10" name="Shape 8"/>
          <p:cNvSpPr/>
          <p:nvPr/>
        </p:nvSpPr>
        <p:spPr>
          <a:xfrm>
            <a:off x="8064794" y="2652216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5684" y="2687638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679042" y="2717105"/>
            <a:ext cx="285117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Choose the first pilot event.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661475" y="3520281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We will return with a venue-specific decor and production plan.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61475" y="4082554"/>
            <a:ext cx="10868745" cy="25400"/>
          </a:xfrm>
          <a:prstGeom prst="roundRect">
            <a:avLst>
              <a:gd name="adj" fmla="val 59999"/>
            </a:avLst>
          </a:prstGeom>
          <a:solidFill>
            <a:srgbClr val="E5E0DF">
              <a:alpha val="5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61475" y="4438650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Contact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661475" y="5017393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[PHONE / WHATSAPP / EMAIL HERE]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1144368" y="6457255"/>
            <a:ext cx="915072" cy="158750"/>
          </a:xfrm>
          <a:prstGeom prst="rect">
            <a:avLst/>
          </a:prstGeom>
          <a:noFill/>
          <a:ln/>
        </p:spPr>
        <p:txBody>
          <a:bodyPr wrap="none" lIns="0" tIns="59541" rIns="99235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2026-07-24T16:11:20Z</dcterms:created>
  <dcterms:modified xsi:type="dcterms:W3CDTF">2026-07-24T16:11:20Z</dcterms:modified>
</cp:coreProperties>
</file>