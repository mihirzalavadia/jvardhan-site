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embeddedFontLst>
    <p:embeddedFont>
      <p:font typeface="Quattrocento"/>
      <p:regular r:id="rId201314"/>
    </p:embeddedFont>
    <p:embeddedFont>
      <p:font typeface="Quattrocento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image" Target="../media/image-4-2.png"/><Relationship Id="rId11" Type="http://schemas.openxmlformats.org/officeDocument/2006/relationships/image" Target="../media/image-4-3.svg"/><Relationship Id="rId12" Type="http://schemas.openxmlformats.org/officeDocument/2006/relationships/image" Target="../media/image-4-2.png"/><Relationship Id="rId13" Type="http://schemas.openxmlformats.org/officeDocument/2006/relationships/image" Target="../media/image-4-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2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143820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J.VARDHAN LUXE EVENTS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810272"/>
            <a:ext cx="62236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Wedding &amp; Celebration Experience Profile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402707"/>
            <a:ext cx="6223638" cy="118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CFAA6D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Floral Styling  |  Mandaps  |  Lighting  |  Event Production</a:t>
            </a:r>
            <a:endParaRPr lang="en-US" sz="15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Working brand only. Legacy connection: Mali Mukesh Wedding Planning &amp; Decoration.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818257"/>
            <a:ext cx="6223638" cy="242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celebration should feel </a:t>
            </a:r>
            <a:pPr algn="ctr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CFAA6D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designed</a:t>
            </a:r>
            <a:pPr algn="ctr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, not assembled.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98086" y="3546277"/>
            <a:ext cx="6223638" cy="2363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Families do not want scattered vendors and last-minute improvisation.</a:t>
            </a:r>
            <a:endParaRPr lang="en-US" sz="1550" dirty="0"/>
          </a:p>
          <a:p>
            <a:pPr algn="ctr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They want a clear creative direction, a calm planning process, and a venue that feels transformed without losing control.</a:t>
            </a:r>
            <a:endParaRPr lang="en-US" sz="15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This deck introduces the J.Vardhan experience for couples, families, and serious celebration enquiries.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628242" y="6435130"/>
            <a:ext cx="851970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5623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feeling we design for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1641872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4" name="Text 2"/>
          <p:cNvSpPr/>
          <p:nvPr/>
        </p:nvSpPr>
        <p:spPr>
          <a:xfrm>
            <a:off x="897510" y="1841302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Warm Arrival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7510" y="2254250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welcome that sets the tone from the first step.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195560" y="1641872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7" name="Text 5"/>
          <p:cNvSpPr/>
          <p:nvPr/>
        </p:nvSpPr>
        <p:spPr>
          <a:xfrm>
            <a:off x="6394985" y="1841302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Calm Ritual 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94985" y="2254250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Ceremony spaces that move families with ease and intention.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8086" y="3291483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315251"/>
          </a:solidFill>
          <a:ln/>
        </p:spPr>
      </p:sp>
      <p:sp>
        <p:nvSpPr>
          <p:cNvPr id="10" name="Text 8"/>
          <p:cNvSpPr/>
          <p:nvPr/>
        </p:nvSpPr>
        <p:spPr>
          <a:xfrm>
            <a:off x="897510" y="3490913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Fresh Floral Presence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7510" y="3903861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Blooms that feel alive, not overdressed.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195560" y="3291483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315251"/>
          </a:solidFill>
          <a:ln/>
        </p:spPr>
      </p:sp>
      <p:sp>
        <p:nvSpPr>
          <p:cNvPr id="13" name="Text 11"/>
          <p:cNvSpPr/>
          <p:nvPr/>
        </p:nvSpPr>
        <p:spPr>
          <a:xfrm>
            <a:off x="6394985" y="3490913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Elegant Mandap Focus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94985" y="3903861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ceremony stage as the visual heart of the day.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98086" y="4621907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16" name="Text 14"/>
          <p:cNvSpPr/>
          <p:nvPr/>
        </p:nvSpPr>
        <p:spPr>
          <a:xfrm>
            <a:off x="897510" y="4821337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Cinematic Evening Light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7510" y="5234285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Lighting that feels intentional, not loud.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195560" y="4621907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985" y="4821337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Beautiful Guest Spaces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94985" y="5234285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Spaces that photograph naturally and move guests with grace.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1199036" y="6435130"/>
            <a:ext cx="85306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838795"/>
            <a:ext cx="6223638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 we help plan</a:t>
            </a:r>
            <a:endParaRPr lang="en-US" sz="3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3569" y="1720900"/>
            <a:ext cx="254291" cy="2542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20919" y="1715691"/>
            <a:ext cx="2354104" cy="49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Mandaps &amp; Ceremony Stages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5820919" y="2358430"/>
            <a:ext cx="2354104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Designed around sightlines, rituals, and photography.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3569" y="3153718"/>
            <a:ext cx="254291" cy="2542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20919" y="3148509"/>
            <a:ext cx="2354104" cy="49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Entrance Gates &amp; Welcome Moments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5820919" y="3791248"/>
            <a:ext cx="2354104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First impressions that guide and delight.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3569" y="4586536"/>
            <a:ext cx="254291" cy="2542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20919" y="4581327"/>
            <a:ext cx="2354104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All Celebration Functions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5820919" y="4974729"/>
            <a:ext cx="2354104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Haldi, mehendi, garba, sangeet, reception and family events.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58504" y="1720900"/>
            <a:ext cx="254291" cy="25429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5855" y="1715691"/>
            <a:ext cx="2354104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Floral Styling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9145855" y="2109093"/>
            <a:ext cx="2354104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Walls, garlands, pathways, centerpieces and table styling.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58504" y="2904381"/>
            <a:ext cx="254291" cy="25429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145855" y="2899172"/>
            <a:ext cx="2354104" cy="49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Lighting &amp; Stage Backdrops</a:t>
            </a:r>
            <a:endParaRPr lang="en-US" sz="1550" dirty="0"/>
          </a:p>
        </p:txBody>
      </p:sp>
      <p:sp>
        <p:nvSpPr>
          <p:cNvPr id="18" name="Text 10"/>
          <p:cNvSpPr/>
          <p:nvPr/>
        </p:nvSpPr>
        <p:spPr>
          <a:xfrm>
            <a:off x="9145855" y="3541911"/>
            <a:ext cx="2354104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Lighting, stage backdrops and guest-flow details.</a:t>
            </a:r>
            <a:endParaRPr lang="en-US" sz="13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58504" y="4337199"/>
            <a:ext cx="254291" cy="25429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145855" y="4331990"/>
            <a:ext cx="2354104" cy="49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Venue-Specific Decor Planning</a:t>
            </a:r>
            <a:endParaRPr lang="en-US" sz="1550" dirty="0"/>
          </a:p>
        </p:txBody>
      </p:sp>
      <p:sp>
        <p:nvSpPr>
          <p:cNvPr id="21" name="Text 12"/>
          <p:cNvSpPr/>
          <p:nvPr/>
        </p:nvSpPr>
        <p:spPr>
          <a:xfrm>
            <a:off x="9145855" y="4974729"/>
            <a:ext cx="2354104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Every plan is built around the property, not against it.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11204096" y="6435130"/>
            <a:ext cx="84800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927497"/>
            <a:ext cx="1486657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</p:sp>
      <p:sp>
        <p:nvSpPr>
          <p:cNvPr id="4" name="Text 1"/>
          <p:cNvSpPr/>
          <p:nvPr/>
        </p:nvSpPr>
        <p:spPr>
          <a:xfrm>
            <a:off x="817740" y="987326"/>
            <a:ext cx="1856932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DECOR WORLD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8086" y="1310382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CFAA6D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Emerald Royal</a:t>
            </a:r>
            <a:endParaRPr lang="en-US" sz="3650" dirty="0"/>
          </a:p>
        </p:txBody>
      </p:sp>
      <p:sp>
        <p:nvSpPr>
          <p:cNvPr id="6" name="Shape 3"/>
          <p:cNvSpPr/>
          <p:nvPr/>
        </p:nvSpPr>
        <p:spPr>
          <a:xfrm>
            <a:off x="554520" y="2196207"/>
            <a:ext cx="3155673" cy="3604617"/>
          </a:xfrm>
          <a:prstGeom prst="roundRect">
            <a:avLst>
              <a:gd name="adj" fmla="val 948"/>
            </a:avLst>
          </a:prstGeom>
          <a:solidFill>
            <a:srgbClr val="024C3F"/>
          </a:solidFill>
          <a:ln/>
        </p:spPr>
      </p:sp>
      <p:sp>
        <p:nvSpPr>
          <p:cNvPr id="7" name="Text 4"/>
          <p:cNvSpPr/>
          <p:nvPr/>
        </p:nvSpPr>
        <p:spPr>
          <a:xfrm>
            <a:off x="753944" y="2395637"/>
            <a:ext cx="275682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Palette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53944" y="2888357"/>
            <a:ext cx="2756823" cy="1416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Deep green grounds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Gold architectural accents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Marigold, mogra and ivory floral moments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059533" y="2395637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Best suited for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059533" y="2888357"/>
            <a:ext cx="2868541" cy="273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Evening receptions, premium hotel venues and formal family gatherings.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Emerald Royal is the signature direction — commanding, warm, and unmistakably considered. It rewards large venues and evening light.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628937" y="6435130"/>
            <a:ext cx="851276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9971" y="1087140"/>
            <a:ext cx="1515628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</p:sp>
      <p:sp>
        <p:nvSpPr>
          <p:cNvPr id="4" name="Text 1"/>
          <p:cNvSpPr/>
          <p:nvPr/>
        </p:nvSpPr>
        <p:spPr>
          <a:xfrm>
            <a:off x="5389626" y="1146969"/>
            <a:ext cx="1885903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DECOR WORLD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269971" y="1470025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CFAA6D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Garden Ivory</a:t>
            </a:r>
            <a:endParaRPr lang="en-US" sz="3650" dirty="0"/>
          </a:p>
        </p:txBody>
      </p:sp>
      <p:sp>
        <p:nvSpPr>
          <p:cNvPr id="6" name="Shape 3"/>
          <p:cNvSpPr/>
          <p:nvPr/>
        </p:nvSpPr>
        <p:spPr>
          <a:xfrm>
            <a:off x="5126405" y="2355850"/>
            <a:ext cx="3155673" cy="3285430"/>
          </a:xfrm>
          <a:prstGeom prst="roundRect">
            <a:avLst>
              <a:gd name="adj" fmla="val 948"/>
            </a:avLst>
          </a:prstGeom>
          <a:solidFill>
            <a:srgbClr val="024C3F"/>
          </a:solidFill>
          <a:ln/>
        </p:spPr>
      </p:sp>
      <p:sp>
        <p:nvSpPr>
          <p:cNvPr id="7" name="Text 4"/>
          <p:cNvSpPr/>
          <p:nvPr/>
        </p:nvSpPr>
        <p:spPr>
          <a:xfrm>
            <a:off x="5325830" y="2555280"/>
            <a:ext cx="275682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Palette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325830" y="3048000"/>
            <a:ext cx="2756823" cy="109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Ivory florals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Fresh greens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Soft gold rules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31418" y="2555280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Best suited for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31418" y="3048000"/>
            <a:ext cx="2868541" cy="2413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Daylight pheras, haldi, garden pathways, farmhouse weddings and understated luxury.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Garden Ivory breathes. It is the direction for families who want beauty that feels effortless and natural in open, sunlit spaces.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1199036" y="6435130"/>
            <a:ext cx="85306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9971" y="927497"/>
            <a:ext cx="1516918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</p:sp>
      <p:sp>
        <p:nvSpPr>
          <p:cNvPr id="4" name="Text 1"/>
          <p:cNvSpPr/>
          <p:nvPr/>
        </p:nvSpPr>
        <p:spPr>
          <a:xfrm>
            <a:off x="5389626" y="987326"/>
            <a:ext cx="1887193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DECOR WORLD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269971" y="1310382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CFAA6D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Dusk Gold</a:t>
            </a:r>
            <a:endParaRPr lang="en-US" sz="3650" dirty="0"/>
          </a:p>
        </p:txBody>
      </p:sp>
      <p:sp>
        <p:nvSpPr>
          <p:cNvPr id="6" name="Shape 3"/>
          <p:cNvSpPr/>
          <p:nvPr/>
        </p:nvSpPr>
        <p:spPr>
          <a:xfrm>
            <a:off x="5126405" y="2196207"/>
            <a:ext cx="3155673" cy="3604617"/>
          </a:xfrm>
          <a:prstGeom prst="roundRect">
            <a:avLst>
              <a:gd name="adj" fmla="val 948"/>
            </a:avLst>
          </a:prstGeom>
          <a:solidFill>
            <a:srgbClr val="024C3F"/>
          </a:solidFill>
          <a:ln/>
        </p:spPr>
      </p:sp>
      <p:sp>
        <p:nvSpPr>
          <p:cNvPr id="7" name="Text 4"/>
          <p:cNvSpPr/>
          <p:nvPr/>
        </p:nvSpPr>
        <p:spPr>
          <a:xfrm>
            <a:off x="5325830" y="2395637"/>
            <a:ext cx="275682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Palette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325830" y="2888357"/>
            <a:ext cx="2756823" cy="1416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Deep emerald shadows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Warm gold lighting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Layered florals and calm stage focus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31418" y="2395637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Best suited for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31418" y="2888357"/>
            <a:ext cx="2868541" cy="273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Receptions, sangeet evenings and high-impact guest arrival moments.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Dusk Gold is the direction for evenings that should feel cinematic. The room deepens, the stage glows, and every photograph carries weight.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1203501" y="6435130"/>
            <a:ext cx="848597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84808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flower story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98086" y="1570633"/>
            <a:ext cx="6223638" cy="1436092"/>
          </a:xfrm>
          <a:prstGeom prst="roundRect">
            <a:avLst>
              <a:gd name="adj" fmla="val 2084"/>
            </a:avLst>
          </a:prstGeom>
          <a:solidFill>
            <a:srgbClr val="4B3F0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10" y="1861245"/>
            <a:ext cx="249330" cy="1994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46266" y="1819870"/>
            <a:ext cx="5376033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[VERIFY: direct farm access or flower farm ownership]   [VERIFY: flower varieties and seasonality]   [VERIFY: storage, freshness, sourcing, and backup suppliers]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698086" y="3231059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Safe public wording until proof is supplied: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997223" y="3998912"/>
            <a:ext cx="592450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Floral planning is treated as a core design layer, not an afterthought.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698086" y="3774579"/>
            <a:ext cx="25399" cy="1087041"/>
          </a:xfrm>
          <a:prstGeom prst="roundRect">
            <a:avLst>
              <a:gd name="adj" fmla="val 60001"/>
            </a:avLst>
          </a:prstGeom>
          <a:solidFill>
            <a:srgbClr val="EF9C82"/>
          </a:solidFill>
          <a:ln/>
        </p:spPr>
      </p:sp>
      <p:sp>
        <p:nvSpPr>
          <p:cNvPr id="10" name="Text 6"/>
          <p:cNvSpPr/>
          <p:nvPr/>
        </p:nvSpPr>
        <p:spPr>
          <a:xfrm>
            <a:off x="698086" y="5085953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Every function has a floral brief. Blooms are chosen for the light, the palette, the ritual, and the photography. Freshness and placement are planned, not improvised.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625166" y="6435130"/>
            <a:ext cx="855046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57027"/>
            <a:ext cx="6223638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mandap as the </a:t>
            </a:r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CFAA6D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heart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69971" y="1265337"/>
            <a:ext cx="683322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mandap sets the visual memory of the ceremony.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69971" y="1701899"/>
            <a:ext cx="2929360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 design around sightlines, family movement, rituals, photography angles and venue restrictions.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9971" y="2456458"/>
            <a:ext cx="2929360" cy="10881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14738" y="2625030"/>
            <a:ext cx="251602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Sightlines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514738" y="2957116"/>
            <a:ext cx="2516025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Every seat should have a clear view of the ceremony.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971" y="3656707"/>
            <a:ext cx="2929360" cy="10881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14738" y="3825280"/>
            <a:ext cx="251602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Family Movement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514738" y="4157365"/>
            <a:ext cx="2516025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Ritual flow is mapped before setup begins.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9971" y="4856956"/>
            <a:ext cx="2929360" cy="10881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514738" y="5025529"/>
            <a:ext cx="251602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Photography Angles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514738" y="5357614"/>
            <a:ext cx="2516025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stage is lit and framed for the camera.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8794927" y="1828105"/>
            <a:ext cx="2705032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goal is not decoration everywhere. The goal is focus where it matters.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8570599" y="1727200"/>
            <a:ext cx="19050" cy="620713"/>
          </a:xfrm>
          <a:prstGeom prst="roundRect">
            <a:avLst>
              <a:gd name="adj" fmla="val 59999"/>
            </a:avLst>
          </a:prstGeom>
          <a:solidFill>
            <a:srgbClr val="EF9C82"/>
          </a:solidFill>
          <a:ln/>
        </p:spPr>
      </p:sp>
      <p:sp>
        <p:nvSpPr>
          <p:cNvPr id="17" name="Text 11"/>
          <p:cNvSpPr/>
          <p:nvPr/>
        </p:nvSpPr>
        <p:spPr>
          <a:xfrm>
            <a:off x="8570599" y="2474119"/>
            <a:ext cx="2929360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mandap that commands the room does not need to compete with everything around it. Restraint is the luxury.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11199036" y="6435130"/>
            <a:ext cx="85306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95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548580"/>
            <a:ext cx="6223638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Entrances and pathways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698086" y="1105694"/>
            <a:ext cx="6223638" cy="679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first guest impression starts before the stage.</a:t>
            </a:r>
            <a:endParaRPr lang="en-US" sz="10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Arrival gates, toran-style details, floral pathways, directional moments and lighting cues should all feel connected.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894979"/>
            <a:ext cx="349043" cy="3490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8086" y="2366169"/>
            <a:ext cx="622363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Arrival Gates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698086" y="2630190"/>
            <a:ext cx="622363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Framed, floral, and scaled to the venue entry.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015456"/>
            <a:ext cx="349043" cy="3490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8086" y="3486646"/>
            <a:ext cx="622363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Toran &amp; Floral Details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698086" y="3750667"/>
            <a:ext cx="622363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Traditional welcome moments with a considered hand.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4135934"/>
            <a:ext cx="349043" cy="3490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8086" y="4607123"/>
            <a:ext cx="622363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Lighting Cues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698086" y="4871145"/>
            <a:ext cx="622363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Directional light that guides guests naturally.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086" y="5256411"/>
            <a:ext cx="349043" cy="34905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8086" y="5727601"/>
            <a:ext cx="622363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Photography-Ready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698086" y="5991622"/>
            <a:ext cx="622363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entrance should welcome, guide and photograph well.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6563553" y="6436717"/>
            <a:ext cx="916659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852884"/>
            <a:ext cx="6223638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Reception and lighting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98086" y="1567656"/>
            <a:ext cx="6833223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Evening decor needs discipline.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98086" y="2110383"/>
            <a:ext cx="2905052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Lighting should shape the room, protect skin tones, support photography and make the stage feel intentional.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023021" y="2110383"/>
            <a:ext cx="2905052" cy="2137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reception stage is the final visual statement of the celebration. It should feel earned — a room that has been shaped by intention, not filled by volume.</a:t>
            </a:r>
            <a:endParaRPr lang="en-US" sz="13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Lighting is not a technical afterthought. It is the last layer of the design.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98086" y="4539258"/>
            <a:ext cx="1978472" cy="1336278"/>
          </a:xfrm>
          <a:prstGeom prst="roundRect">
            <a:avLst>
              <a:gd name="adj" fmla="val 1903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867547" y="4708723"/>
            <a:ext cx="16395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Gold should glow.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2820619" y="4539258"/>
            <a:ext cx="1978472" cy="1336278"/>
          </a:xfrm>
          <a:prstGeom prst="roundRect">
            <a:avLst>
              <a:gd name="adj" fmla="val 1903"/>
            </a:avLst>
          </a:prstGeom>
          <a:solidFill>
            <a:srgbClr val="315251"/>
          </a:solidFill>
          <a:ln/>
        </p:spPr>
      </p:sp>
      <p:sp>
        <p:nvSpPr>
          <p:cNvPr id="10" name="Text 7"/>
          <p:cNvSpPr/>
          <p:nvPr/>
        </p:nvSpPr>
        <p:spPr>
          <a:xfrm>
            <a:off x="2990081" y="4708723"/>
            <a:ext cx="1639549" cy="49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Emerald should deepen.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943153" y="4539258"/>
            <a:ext cx="1978571" cy="1336278"/>
          </a:xfrm>
          <a:prstGeom prst="roundRect">
            <a:avLst>
              <a:gd name="adj" fmla="val 1903"/>
            </a:avLst>
          </a:prstGeom>
          <a:solidFill>
            <a:srgbClr val="315251"/>
          </a:solidFill>
          <a:ln/>
        </p:spPr>
      </p:sp>
      <p:sp>
        <p:nvSpPr>
          <p:cNvPr id="12" name="Text 9"/>
          <p:cNvSpPr/>
          <p:nvPr/>
        </p:nvSpPr>
        <p:spPr>
          <a:xfrm>
            <a:off x="5112614" y="4708723"/>
            <a:ext cx="1639648" cy="997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Nothing harsh. Nothing random. Nothing overfilled.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604232" y="6435130"/>
            <a:ext cx="875980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1173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planning path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97373"/>
            <a:ext cx="10795524" cy="28566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0857" y="2963247"/>
            <a:ext cx="1631831" cy="274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530857" y="3321178"/>
            <a:ext cx="1631831" cy="467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Family, venue, rituals, dates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400816" y="2828679"/>
            <a:ext cx="1631831" cy="274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Define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400816" y="3186609"/>
            <a:ext cx="1631831" cy="701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Decor world, priority spaces, budget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70775" y="2963247"/>
            <a:ext cx="1631831" cy="274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Create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270775" y="3321178"/>
            <a:ext cx="1631831" cy="467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Visual references and site scope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40734" y="2828679"/>
            <a:ext cx="1631831" cy="274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Align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140734" y="3186609"/>
            <a:ext cx="1631831" cy="701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Load-in, setup, approvals, permissions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021082" y="2963247"/>
            <a:ext cx="1631831" cy="274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Review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021082" y="3321178"/>
            <a:ext cx="1631831" cy="467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Post-event debrief and learnings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98086" y="5078313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Each step is designed to reduce uncertainty and give the family a clear view of what is being built, when, and why. The planning path is the product.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1150718" y="6435130"/>
            <a:ext cx="901380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5325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 the family gets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638895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8086" y="1952526"/>
            <a:ext cx="5298049" cy="2540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5" name="Text 3"/>
          <p:cNvSpPr/>
          <p:nvPr/>
        </p:nvSpPr>
        <p:spPr>
          <a:xfrm>
            <a:off x="698086" y="2103041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One clear decor direction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8086" y="2515989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single creative brief that guides every decision.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195560" y="1638895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195560" y="1952526"/>
            <a:ext cx="5298049" cy="2540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9" name="Text 7"/>
          <p:cNvSpPr/>
          <p:nvPr/>
        </p:nvSpPr>
        <p:spPr>
          <a:xfrm>
            <a:off x="6195560" y="2103041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One planning contact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95560" y="2515989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handoffs, no confusion, no chasing multiple vendors.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98086" y="3184128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8086" y="3497759"/>
            <a:ext cx="5298049" cy="2540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8086" y="3648273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One scope document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8086" y="4061222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Everything agreed, written, and referenced.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195560" y="3184128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195560" y="3497759"/>
            <a:ext cx="5298049" cy="2540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7" name="Text 15"/>
          <p:cNvSpPr/>
          <p:nvPr/>
        </p:nvSpPr>
        <p:spPr>
          <a:xfrm>
            <a:off x="6195560" y="3648273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One setup timeline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95560" y="4061222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Load-in, approvals, and execution mapped in advance.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98086" y="4729361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98086" y="5042991"/>
            <a:ext cx="5298049" cy="2540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21" name="Text 19"/>
          <p:cNvSpPr/>
          <p:nvPr/>
        </p:nvSpPr>
        <p:spPr>
          <a:xfrm>
            <a:off x="698086" y="5193506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One venue-sensitive execution plan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8086" y="5606455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Built around the property, not imposed upon it.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195560" y="4729361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06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195560" y="5042991"/>
            <a:ext cx="5298049" cy="2540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25" name="Text 23"/>
          <p:cNvSpPr/>
          <p:nvPr/>
        </p:nvSpPr>
        <p:spPr>
          <a:xfrm>
            <a:off x="6195560" y="5193506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One calmer path to the celebration day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95560" y="5606455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family arrives as guests, not coordinators.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1149627" y="6435130"/>
            <a:ext cx="90247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60995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Venue-sensitive execution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8086" y="1385689"/>
            <a:ext cx="11405108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Beautiful decor only works when it respects the property.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873845"/>
            <a:ext cx="5203100" cy="1033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Site rules, entry routes, setup windows, surface protection, power access and guest movement must be planned before the event week.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This is especially important for resorts, hotels, banquet halls, farmhouses and party plots.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6860" y="1902520"/>
            <a:ext cx="2537754" cy="1408509"/>
          </a:xfrm>
          <a:prstGeom prst="roundRect">
            <a:avLst>
              <a:gd name="adj" fmla="val 1699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5449" y="2081113"/>
            <a:ext cx="218057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Site Rules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75449" y="2443361"/>
            <a:ext cx="2180575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Understood and respected before a single item is loaded 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962205" y="1902520"/>
            <a:ext cx="2537754" cy="1408509"/>
          </a:xfrm>
          <a:prstGeom prst="roundRect">
            <a:avLst>
              <a:gd name="adj" fmla="val 1699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0795" y="2081113"/>
            <a:ext cx="218057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Entry Routes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0795" y="2443361"/>
            <a:ext cx="2180575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Mapped for efficient, damage-free setup.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96860" y="3438624"/>
            <a:ext cx="2537754" cy="1178818"/>
          </a:xfrm>
          <a:prstGeom prst="roundRect">
            <a:avLst>
              <a:gd name="adj" fmla="val 2031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5449" y="3617218"/>
            <a:ext cx="218057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Setup Windows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75449" y="3979466"/>
            <a:ext cx="2180575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Timed to the venue's schedule, not ours.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62205" y="3438624"/>
            <a:ext cx="2537754" cy="1178818"/>
          </a:xfrm>
          <a:prstGeom prst="roundRect">
            <a:avLst>
              <a:gd name="adj" fmla="val 2031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0795" y="3617218"/>
            <a:ext cx="218057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Surface Protection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0795" y="3979466"/>
            <a:ext cx="2180575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Every floor, wall, and fixture treated with care.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96860" y="4745038"/>
            <a:ext cx="2537754" cy="1178818"/>
          </a:xfrm>
          <a:prstGeom prst="roundRect">
            <a:avLst>
              <a:gd name="adj" fmla="val 2031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5449" y="4923631"/>
            <a:ext cx="218057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Power Access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75449" y="5285879"/>
            <a:ext cx="2180575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Load requirements confirmed and approved in advance.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62205" y="4745038"/>
            <a:ext cx="2537754" cy="1178818"/>
          </a:xfrm>
          <a:prstGeom prst="roundRect">
            <a:avLst>
              <a:gd name="adj" fmla="val 2031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0795" y="4923631"/>
            <a:ext cx="218057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Guest Movement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0795" y="5285879"/>
            <a:ext cx="2180575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Flow planned so decor never obstructs the experience.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154687" y="6435130"/>
            <a:ext cx="89741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2184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Portfolio proof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1907480"/>
            <a:ext cx="10795524" cy="797719"/>
          </a:xfrm>
          <a:prstGeom prst="roundRect">
            <a:avLst>
              <a:gd name="adj" fmla="val 3751"/>
            </a:avLst>
          </a:prstGeom>
          <a:solidFill>
            <a:srgbClr val="4B3F0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10" y="2198092"/>
            <a:ext cx="249330" cy="1994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6266" y="2156718"/>
            <a:ext cx="105575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[VERIFIED COPY HERE: event type, role, scope, location permission status]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98086" y="2929533"/>
            <a:ext cx="10795524" cy="797719"/>
          </a:xfrm>
          <a:prstGeom prst="roundRect">
            <a:avLst>
              <a:gd name="adj" fmla="val 3751"/>
            </a:avLst>
          </a:prstGeom>
          <a:solidFill>
            <a:srgbClr val="4B3F0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10" y="3220145"/>
            <a:ext cx="249330" cy="1994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46266" y="3178770"/>
            <a:ext cx="105575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[VERIFIED COPY HERE: client or venue name only if permission is confirmed]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98086" y="3951585"/>
            <a:ext cx="10795524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 only approved and verified event images.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celebrity, private-family or venue claim should be published without permission.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997223" y="5262959"/>
            <a:ext cx="1110597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Every image in this portfolio has been cleared for use. Every claim is one we can stand behind.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98086" y="5038626"/>
            <a:ext cx="25399" cy="767854"/>
          </a:xfrm>
          <a:prstGeom prst="roundRect">
            <a:avLst>
              <a:gd name="adj" fmla="val 60001"/>
            </a:avLst>
          </a:prstGeom>
          <a:solidFill>
            <a:srgbClr val="EF9C82"/>
          </a:solidFill>
          <a:ln/>
        </p:spPr>
      </p:sp>
      <p:sp>
        <p:nvSpPr>
          <p:cNvPr id="12" name="Text 8"/>
          <p:cNvSpPr/>
          <p:nvPr/>
        </p:nvSpPr>
        <p:spPr>
          <a:xfrm>
            <a:off x="11151412" y="6435130"/>
            <a:ext cx="900685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16347"/>
            <a:ext cx="6223638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Brand identity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98086" y="1443633"/>
            <a:ext cx="683322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 the uploaded logo sample board image if provided.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61663" y="1941711"/>
            <a:ext cx="3153490" cy="4170363"/>
          </a:xfrm>
          <a:prstGeom prst="roundRect">
            <a:avLst>
              <a:gd name="adj" fmla="val 901"/>
            </a:avLst>
          </a:prstGeom>
          <a:solidFill>
            <a:srgbClr val="024C3F"/>
          </a:solidFill>
          <a:ln/>
        </p:spPr>
      </p:sp>
      <p:sp>
        <p:nvSpPr>
          <p:cNvPr id="6" name="Text 3"/>
          <p:cNvSpPr/>
          <p:nvPr/>
        </p:nvSpPr>
        <p:spPr>
          <a:xfrm>
            <a:off x="751166" y="2121694"/>
            <a:ext cx="277448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Lion Mark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1166" y="2580283"/>
            <a:ext cx="2774484" cy="118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lion mark is still a concept system. It carries the right feeling — quiet authority, natural confidence, considered craft.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47428" y="2121694"/>
            <a:ext cx="288064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 comes next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047428" y="2580283"/>
            <a:ext cx="2880645" cy="2025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Final logo needs vector redraw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Trademark check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Small-size tests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Signage tests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Embroidery tests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047428" y="4767759"/>
            <a:ext cx="2880645" cy="118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identity should work at every scale — from a digital deck to a brass nameplate at a venue entrance.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77741" y="6435130"/>
            <a:ext cx="90247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74688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 we need from you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98086" y="1399381"/>
            <a:ext cx="5333966" cy="1466354"/>
          </a:xfrm>
          <a:prstGeom prst="roundRect">
            <a:avLst>
              <a:gd name="adj" fmla="val 1632"/>
            </a:avLst>
          </a:prstGeom>
          <a:solidFill>
            <a:srgbClr val="315251"/>
          </a:solidFill>
          <a:ln/>
        </p:spPr>
      </p:sp>
      <p:sp>
        <p:nvSpPr>
          <p:cNvPr id="4" name="Shape 2"/>
          <p:cNvSpPr/>
          <p:nvPr/>
        </p:nvSpPr>
        <p:spPr>
          <a:xfrm>
            <a:off x="857625" y="1558925"/>
            <a:ext cx="478718" cy="478730"/>
          </a:xfrm>
          <a:prstGeom prst="ellipse">
            <a:avLst/>
          </a:prstGeom>
          <a:solidFill>
            <a:srgbClr val="EF9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9285" y="1690489"/>
            <a:ext cx="215399" cy="2154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625" y="2165251"/>
            <a:ext cx="501488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Event Dates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57625" y="2476500"/>
            <a:ext cx="501488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All functions and the primary ceremony date.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59644" y="1399381"/>
            <a:ext cx="5333966" cy="1466354"/>
          </a:xfrm>
          <a:prstGeom prst="roundRect">
            <a:avLst>
              <a:gd name="adj" fmla="val 1632"/>
            </a:avLst>
          </a:prstGeom>
          <a:solidFill>
            <a:srgbClr val="315251"/>
          </a:solidFill>
          <a:ln/>
        </p:spPr>
      </p:sp>
      <p:sp>
        <p:nvSpPr>
          <p:cNvPr id="9" name="Shape 6"/>
          <p:cNvSpPr/>
          <p:nvPr/>
        </p:nvSpPr>
        <p:spPr>
          <a:xfrm>
            <a:off x="6319183" y="1558925"/>
            <a:ext cx="478718" cy="478730"/>
          </a:xfrm>
          <a:prstGeom prst="ellipse">
            <a:avLst/>
          </a:prstGeom>
          <a:solidFill>
            <a:srgbClr val="EF9C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0843" y="1690489"/>
            <a:ext cx="215399" cy="2154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19183" y="2165251"/>
            <a:ext cx="501488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Venue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19183" y="2476500"/>
            <a:ext cx="501488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Confirmed or shortlisted venues.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98086" y="2993330"/>
            <a:ext cx="5333966" cy="1466354"/>
          </a:xfrm>
          <a:prstGeom prst="roundRect">
            <a:avLst>
              <a:gd name="adj" fmla="val 1632"/>
            </a:avLst>
          </a:prstGeom>
          <a:solidFill>
            <a:srgbClr val="315251"/>
          </a:solidFill>
          <a:ln/>
        </p:spPr>
      </p:sp>
      <p:sp>
        <p:nvSpPr>
          <p:cNvPr id="14" name="Shape 10"/>
          <p:cNvSpPr/>
          <p:nvPr/>
        </p:nvSpPr>
        <p:spPr>
          <a:xfrm>
            <a:off x="857625" y="3152874"/>
            <a:ext cx="478718" cy="478730"/>
          </a:xfrm>
          <a:prstGeom prst="ellipse">
            <a:avLst/>
          </a:prstGeom>
          <a:solidFill>
            <a:srgbClr val="EF9C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9285" y="3284438"/>
            <a:ext cx="215399" cy="2154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7625" y="3759200"/>
            <a:ext cx="501488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Priority Functions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57625" y="4070449"/>
            <a:ext cx="501488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Which events matter most to the family.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59644" y="2993330"/>
            <a:ext cx="5333966" cy="1466354"/>
          </a:xfrm>
          <a:prstGeom prst="roundRect">
            <a:avLst>
              <a:gd name="adj" fmla="val 1632"/>
            </a:avLst>
          </a:prstGeom>
          <a:solidFill>
            <a:srgbClr val="315251"/>
          </a:solidFill>
          <a:ln/>
        </p:spPr>
      </p:sp>
      <p:sp>
        <p:nvSpPr>
          <p:cNvPr id="19" name="Shape 14"/>
          <p:cNvSpPr/>
          <p:nvPr/>
        </p:nvSpPr>
        <p:spPr>
          <a:xfrm>
            <a:off x="6319183" y="3152874"/>
            <a:ext cx="478718" cy="478730"/>
          </a:xfrm>
          <a:prstGeom prst="ellipse">
            <a:avLst/>
          </a:prstGeom>
          <a:solidFill>
            <a:srgbClr val="EF9C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50843" y="3284438"/>
            <a:ext cx="215399" cy="2154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19183" y="3759200"/>
            <a:ext cx="501488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Family Customs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19183" y="4070449"/>
            <a:ext cx="501488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Ritual needs and cultural considerations.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98086" y="4587280"/>
            <a:ext cx="5333966" cy="1466354"/>
          </a:xfrm>
          <a:prstGeom prst="roundRect">
            <a:avLst>
              <a:gd name="adj" fmla="val 1632"/>
            </a:avLst>
          </a:prstGeom>
          <a:solidFill>
            <a:srgbClr val="315251"/>
          </a:solidFill>
          <a:ln/>
        </p:spPr>
      </p:sp>
      <p:sp>
        <p:nvSpPr>
          <p:cNvPr id="24" name="Shape 18"/>
          <p:cNvSpPr/>
          <p:nvPr/>
        </p:nvSpPr>
        <p:spPr>
          <a:xfrm>
            <a:off x="857625" y="4746823"/>
            <a:ext cx="478718" cy="478730"/>
          </a:xfrm>
          <a:prstGeom prst="ellipse">
            <a:avLst/>
          </a:prstGeom>
          <a:solidFill>
            <a:srgbClr val="EF9C8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9285" y="4878387"/>
            <a:ext cx="215399" cy="2154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57625" y="5353149"/>
            <a:ext cx="501488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Photo &amp; Video Permissions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857625" y="5664398"/>
            <a:ext cx="501488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 may be shared and what must remain private.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159644" y="4587280"/>
            <a:ext cx="5333966" cy="1466354"/>
          </a:xfrm>
          <a:prstGeom prst="roundRect">
            <a:avLst>
              <a:gd name="adj" fmla="val 1632"/>
            </a:avLst>
          </a:prstGeom>
          <a:solidFill>
            <a:srgbClr val="315251"/>
          </a:solidFill>
          <a:ln/>
        </p:spPr>
      </p:sp>
      <p:sp>
        <p:nvSpPr>
          <p:cNvPr id="29" name="Shape 22"/>
          <p:cNvSpPr/>
          <p:nvPr/>
        </p:nvSpPr>
        <p:spPr>
          <a:xfrm>
            <a:off x="6319183" y="4746823"/>
            <a:ext cx="478718" cy="478730"/>
          </a:xfrm>
          <a:prstGeom prst="ellipse">
            <a:avLst/>
          </a:prstGeom>
          <a:solidFill>
            <a:srgbClr val="EF9C8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50843" y="4878387"/>
            <a:ext cx="215399" cy="21540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19183" y="5353149"/>
            <a:ext cx="501488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Decision-Maker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6319183" y="5664398"/>
            <a:ext cx="501488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single point of contact for approvals.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11154091" y="6435130"/>
            <a:ext cx="898006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7421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Begin with a </a:t>
            </a:r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CFAA6D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decor consultation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859855"/>
            <a:ext cx="10795524" cy="1406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Share your venue and event dates.</a:t>
            </a:r>
            <a:endParaRPr lang="en-US" sz="1550" dirty="0"/>
          </a:p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Choose the first priority function.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 will return with a celebration-specific visual direction and execution plan.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8086" y="3490416"/>
            <a:ext cx="3465525" cy="1820168"/>
          </a:xfrm>
          <a:prstGeom prst="roundRect">
            <a:avLst>
              <a:gd name="adj" fmla="val 1644"/>
            </a:avLst>
          </a:prstGeom>
          <a:solidFill>
            <a:srgbClr val="123332"/>
          </a:solidFill>
          <a:ln w="25399">
            <a:solidFill>
              <a:srgbClr val="4A6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2910" y="3715246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Step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22910" y="4128195"/>
            <a:ext cx="301587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Share your venue and event dates with us.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63035" y="3490416"/>
            <a:ext cx="3465525" cy="1820168"/>
          </a:xfrm>
          <a:prstGeom prst="roundRect">
            <a:avLst>
              <a:gd name="adj" fmla="val 1644"/>
            </a:avLst>
          </a:prstGeom>
          <a:solidFill>
            <a:srgbClr val="123332"/>
          </a:solidFill>
          <a:ln w="25399">
            <a:solidFill>
              <a:srgbClr val="4A6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7859" y="3715246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Step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87859" y="4128195"/>
            <a:ext cx="301587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Choose the first priority function to focus on.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27985" y="3490416"/>
            <a:ext cx="3465624" cy="1820168"/>
          </a:xfrm>
          <a:prstGeom prst="roundRect">
            <a:avLst>
              <a:gd name="adj" fmla="val 1644"/>
            </a:avLst>
          </a:prstGeom>
          <a:solidFill>
            <a:srgbClr val="123332"/>
          </a:solidFill>
          <a:ln w="25399">
            <a:solidFill>
              <a:srgbClr val="4A6B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2809" y="3715246"/>
            <a:ext cx="30159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Step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52809" y="4128195"/>
            <a:ext cx="301597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Receive a celebration-specific visual direction and execution plan.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93293" y="5534918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Contact:</a:t>
            </a:r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</a:t>
            </a:r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FAA6D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[PHONE / WHATSAPP / EMAIL HERE]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147642" y="6435130"/>
            <a:ext cx="904455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222970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J.VARDHAN LUXE EVENTS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2108795"/>
            <a:ext cx="6223638" cy="242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CFAA6D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Celebrations built with calm, craft and visual memory.</a:t>
            </a:r>
            <a:endParaRPr lang="en-US" sz="5100" dirty="0"/>
          </a:p>
        </p:txBody>
      </p:sp>
      <p:sp>
        <p:nvSpPr>
          <p:cNvPr id="5" name="Shape 2"/>
          <p:cNvSpPr/>
          <p:nvPr/>
        </p:nvSpPr>
        <p:spPr>
          <a:xfrm>
            <a:off x="5269971" y="4886623"/>
            <a:ext cx="6223638" cy="25400"/>
          </a:xfrm>
          <a:prstGeom prst="roundRect">
            <a:avLst>
              <a:gd name="adj" fmla="val 59999"/>
            </a:avLst>
          </a:prstGeom>
          <a:solidFill>
            <a:srgbClr val="F9EEE7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965179" y="5186164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FAA6D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[PHONE / WHATSAPP / EMAIL HERE]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1149627" y="6435130"/>
            <a:ext cx="90247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19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2026-07-24T19:32:52Z</dcterms:created>
  <dcterms:modified xsi:type="dcterms:W3CDTF">2026-07-24T19:32:52Z</dcterms:modified>
</cp:coreProperties>
</file>